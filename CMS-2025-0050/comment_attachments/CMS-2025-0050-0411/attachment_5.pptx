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66600" cy="6858000"/>
  <p:notesSz cx="7010400" cy="9296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780" cy="4669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792" y="1"/>
            <a:ext cx="3037779" cy="4669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D70BA-2FF7-4CC9-BC5A-B06371C1382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1162050"/>
            <a:ext cx="5568950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674" y="4473894"/>
            <a:ext cx="5609052" cy="366045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430"/>
            <a:ext cx="3037780" cy="4669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792" y="8829430"/>
            <a:ext cx="3037779" cy="4669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3EF0F-B0DC-4879-A77B-0958E34E6B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81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2971" y="2125980"/>
            <a:ext cx="1034700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5942" y="3840480"/>
            <a:ext cx="852106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35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35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490472"/>
            <a:ext cx="6086475" cy="3098800"/>
          </a:xfrm>
          <a:custGeom>
            <a:avLst/>
            <a:gdLst/>
            <a:ahLst/>
            <a:cxnLst/>
            <a:rect l="l" t="t" r="r" b="b"/>
            <a:pathLst>
              <a:path w="6086475" h="3098800">
                <a:moveTo>
                  <a:pt x="6086475" y="0"/>
                </a:moveTo>
                <a:lnTo>
                  <a:pt x="0" y="0"/>
                </a:lnTo>
                <a:lnTo>
                  <a:pt x="0" y="3098800"/>
                </a:lnTo>
                <a:lnTo>
                  <a:pt x="6086475" y="3098800"/>
                </a:lnTo>
                <a:lnTo>
                  <a:pt x="6086475" y="0"/>
                </a:lnTo>
                <a:close/>
              </a:path>
            </a:pathLst>
          </a:custGeom>
          <a:solidFill>
            <a:srgbClr val="004E9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89271"/>
            <a:ext cx="6086474" cy="226872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5377768"/>
            <a:ext cx="1458595" cy="1480820"/>
          </a:xfrm>
          <a:custGeom>
            <a:avLst/>
            <a:gdLst/>
            <a:ahLst/>
            <a:cxnLst/>
            <a:rect l="l" t="t" r="r" b="b"/>
            <a:pathLst>
              <a:path w="1458595" h="1480820">
                <a:moveTo>
                  <a:pt x="0" y="0"/>
                </a:moveTo>
                <a:lnTo>
                  <a:pt x="0" y="1480231"/>
                </a:lnTo>
                <a:lnTo>
                  <a:pt x="1458579" y="1480231"/>
                </a:lnTo>
                <a:lnTo>
                  <a:pt x="1430342" y="1427275"/>
                </a:lnTo>
                <a:lnTo>
                  <a:pt x="1392540" y="1362557"/>
                </a:lnTo>
                <a:lnTo>
                  <a:pt x="1372085" y="1329704"/>
                </a:lnTo>
                <a:lnTo>
                  <a:pt x="1350607" y="1296535"/>
                </a:lnTo>
                <a:lnTo>
                  <a:pt x="1328116" y="1263061"/>
                </a:lnTo>
                <a:lnTo>
                  <a:pt x="1304622" y="1229294"/>
                </a:lnTo>
                <a:lnTo>
                  <a:pt x="1280134" y="1195245"/>
                </a:lnTo>
                <a:lnTo>
                  <a:pt x="1254663" y="1160924"/>
                </a:lnTo>
                <a:lnTo>
                  <a:pt x="1228217" y="1126342"/>
                </a:lnTo>
                <a:lnTo>
                  <a:pt x="1200807" y="1091510"/>
                </a:lnTo>
                <a:lnTo>
                  <a:pt x="1172442" y="1056440"/>
                </a:lnTo>
                <a:lnTo>
                  <a:pt x="1143133" y="1021141"/>
                </a:lnTo>
                <a:lnTo>
                  <a:pt x="1112888" y="985625"/>
                </a:lnTo>
                <a:lnTo>
                  <a:pt x="1081718" y="949903"/>
                </a:lnTo>
                <a:lnTo>
                  <a:pt x="1049633" y="913986"/>
                </a:lnTo>
                <a:lnTo>
                  <a:pt x="1016642" y="877884"/>
                </a:lnTo>
                <a:lnTo>
                  <a:pt x="982754" y="841609"/>
                </a:lnTo>
                <a:lnTo>
                  <a:pt x="947981" y="805171"/>
                </a:lnTo>
                <a:lnTo>
                  <a:pt x="912330" y="768581"/>
                </a:lnTo>
                <a:lnTo>
                  <a:pt x="875813" y="731851"/>
                </a:lnTo>
                <a:lnTo>
                  <a:pt x="838439" y="694991"/>
                </a:lnTo>
                <a:lnTo>
                  <a:pt x="800217" y="658012"/>
                </a:lnTo>
                <a:lnTo>
                  <a:pt x="761158" y="620926"/>
                </a:lnTo>
                <a:lnTo>
                  <a:pt x="721271" y="583742"/>
                </a:lnTo>
                <a:lnTo>
                  <a:pt x="680565" y="546471"/>
                </a:lnTo>
                <a:lnTo>
                  <a:pt x="639052" y="509126"/>
                </a:lnTo>
                <a:lnTo>
                  <a:pt x="596740" y="471716"/>
                </a:lnTo>
                <a:lnTo>
                  <a:pt x="553639" y="434253"/>
                </a:lnTo>
                <a:lnTo>
                  <a:pt x="509758" y="396747"/>
                </a:lnTo>
                <a:lnTo>
                  <a:pt x="465109" y="359210"/>
                </a:lnTo>
                <a:lnTo>
                  <a:pt x="419700" y="321652"/>
                </a:lnTo>
                <a:lnTo>
                  <a:pt x="373541" y="284084"/>
                </a:lnTo>
                <a:lnTo>
                  <a:pt x="326642" y="246518"/>
                </a:lnTo>
                <a:lnTo>
                  <a:pt x="279012" y="208963"/>
                </a:lnTo>
                <a:lnTo>
                  <a:pt x="230662" y="171431"/>
                </a:lnTo>
                <a:lnTo>
                  <a:pt x="181601" y="133933"/>
                </a:lnTo>
                <a:lnTo>
                  <a:pt x="131839" y="96480"/>
                </a:lnTo>
                <a:lnTo>
                  <a:pt x="81386" y="59083"/>
                </a:lnTo>
                <a:lnTo>
                  <a:pt x="30250" y="217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72950" cy="1490980"/>
          </a:xfrm>
          <a:custGeom>
            <a:avLst/>
            <a:gdLst/>
            <a:ahLst/>
            <a:cxnLst/>
            <a:rect l="l" t="t" r="r" b="b"/>
            <a:pathLst>
              <a:path w="12172950" h="1490980">
                <a:moveTo>
                  <a:pt x="12172950" y="0"/>
                </a:moveTo>
                <a:lnTo>
                  <a:pt x="0" y="0"/>
                </a:lnTo>
                <a:lnTo>
                  <a:pt x="0" y="1490472"/>
                </a:lnTo>
                <a:lnTo>
                  <a:pt x="12172950" y="1490472"/>
                </a:lnTo>
                <a:lnTo>
                  <a:pt x="12172950" y="0"/>
                </a:lnTo>
                <a:close/>
              </a:path>
            </a:pathLst>
          </a:custGeom>
          <a:solidFill>
            <a:srgbClr val="2AC4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6029325" y="2500122"/>
            <a:ext cx="114300" cy="4358005"/>
          </a:xfrm>
          <a:custGeom>
            <a:avLst/>
            <a:gdLst/>
            <a:ahLst/>
            <a:cxnLst/>
            <a:rect l="l" t="t" r="r" b="b"/>
            <a:pathLst>
              <a:path w="114300" h="4358005">
                <a:moveTo>
                  <a:pt x="114300" y="0"/>
                </a:moveTo>
                <a:lnTo>
                  <a:pt x="0" y="0"/>
                </a:lnTo>
                <a:lnTo>
                  <a:pt x="0" y="4357878"/>
                </a:lnTo>
                <a:lnTo>
                  <a:pt x="114300" y="4357878"/>
                </a:lnTo>
                <a:lnTo>
                  <a:pt x="114300" y="0"/>
                </a:lnTo>
                <a:close/>
              </a:path>
            </a:pathLst>
          </a:custGeom>
          <a:solidFill>
            <a:srgbClr val="F8BA1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647" y="1577340"/>
            <a:ext cx="5295233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69069" y="1577340"/>
            <a:ext cx="5295233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526279"/>
            <a:ext cx="12172950" cy="2331720"/>
          </a:xfrm>
          <a:custGeom>
            <a:avLst/>
            <a:gdLst/>
            <a:ahLst/>
            <a:cxnLst/>
            <a:rect l="l" t="t" r="r" b="b"/>
            <a:pathLst>
              <a:path w="12172950" h="2331720">
                <a:moveTo>
                  <a:pt x="12172950" y="0"/>
                </a:moveTo>
                <a:lnTo>
                  <a:pt x="0" y="0"/>
                </a:lnTo>
                <a:lnTo>
                  <a:pt x="0" y="2331720"/>
                </a:lnTo>
                <a:lnTo>
                  <a:pt x="12172950" y="2331720"/>
                </a:lnTo>
                <a:lnTo>
                  <a:pt x="12172950" y="0"/>
                </a:lnTo>
                <a:close/>
              </a:path>
            </a:pathLst>
          </a:custGeom>
          <a:solidFill>
            <a:srgbClr val="004E9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72950" cy="45262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90570" y="312483"/>
            <a:ext cx="7191809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6386" y="2203450"/>
            <a:ext cx="5387340" cy="326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35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38803" y="6377940"/>
            <a:ext cx="389534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647" y="6377940"/>
            <a:ext cx="2799778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900" y="6561832"/>
            <a:ext cx="201929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0.png"/><Relationship Id="rId3" Type="http://schemas.openxmlformats.org/officeDocument/2006/relationships/hyperlink" Target="https://electroniccaregiver.com/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jpeg"/><Relationship Id="rId2" Type="http://schemas.openxmlformats.org/officeDocument/2006/relationships/image" Target="../media/image3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hyperlink" Target="https://healthcare-digital.com/telehealth-and-covid-19/top-10-telehealth-companies-supporting-users-post-covid-19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hyperlink" Target="https://www.beckershospitalreview.com/lists/297-telehealth-companies-to-know-2024.html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72950" cy="6858127"/>
            <a:chOff x="0" y="0"/>
            <a:chExt cx="12172950" cy="6858127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72950" cy="1490980"/>
            </a:xfrm>
            <a:custGeom>
              <a:avLst/>
              <a:gdLst/>
              <a:ahLst/>
              <a:cxnLst/>
              <a:rect l="l" t="t" r="r" b="b"/>
              <a:pathLst>
                <a:path w="12172950" h="1490980">
                  <a:moveTo>
                    <a:pt x="12172950" y="0"/>
                  </a:moveTo>
                  <a:lnTo>
                    <a:pt x="0" y="0"/>
                  </a:lnTo>
                  <a:lnTo>
                    <a:pt x="0" y="1490472"/>
                  </a:lnTo>
                  <a:lnTo>
                    <a:pt x="12172950" y="1490472"/>
                  </a:lnTo>
                  <a:lnTo>
                    <a:pt x="12172950" y="0"/>
                  </a:lnTo>
                  <a:close/>
                </a:path>
              </a:pathLst>
            </a:custGeom>
            <a:solidFill>
              <a:srgbClr val="2AC4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029325" y="2500122"/>
              <a:ext cx="114300" cy="4358005"/>
            </a:xfrm>
            <a:custGeom>
              <a:avLst/>
              <a:gdLst/>
              <a:ahLst/>
              <a:cxnLst/>
              <a:rect l="l" t="t" r="r" b="b"/>
              <a:pathLst>
                <a:path w="114300" h="4358005">
                  <a:moveTo>
                    <a:pt x="114300" y="0"/>
                  </a:moveTo>
                  <a:lnTo>
                    <a:pt x="0" y="0"/>
                  </a:lnTo>
                  <a:lnTo>
                    <a:pt x="0" y="4357878"/>
                  </a:lnTo>
                  <a:lnTo>
                    <a:pt x="114300" y="4357878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8BA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03313" y="6404127"/>
              <a:ext cx="942635" cy="3341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714279" y="6400800"/>
              <a:ext cx="331470" cy="300990"/>
            </a:xfrm>
            <a:custGeom>
              <a:avLst/>
              <a:gdLst/>
              <a:ahLst/>
              <a:cxnLst/>
              <a:rect l="l" t="t" r="r" b="b"/>
              <a:pathLst>
                <a:path w="331470" h="300990">
                  <a:moveTo>
                    <a:pt x="233387" y="141249"/>
                  </a:moveTo>
                  <a:lnTo>
                    <a:pt x="172986" y="141249"/>
                  </a:lnTo>
                  <a:lnTo>
                    <a:pt x="172986" y="193598"/>
                  </a:lnTo>
                  <a:lnTo>
                    <a:pt x="233387" y="193598"/>
                  </a:lnTo>
                  <a:lnTo>
                    <a:pt x="233387" y="141249"/>
                  </a:lnTo>
                  <a:close/>
                </a:path>
                <a:path w="331470" h="300990">
                  <a:moveTo>
                    <a:pt x="331203" y="112344"/>
                  </a:moveTo>
                  <a:lnTo>
                    <a:pt x="233387" y="47409"/>
                  </a:lnTo>
                  <a:lnTo>
                    <a:pt x="233387" y="12306"/>
                  </a:lnTo>
                  <a:lnTo>
                    <a:pt x="203161" y="12306"/>
                  </a:lnTo>
                  <a:lnTo>
                    <a:pt x="203161" y="27254"/>
                  </a:lnTo>
                  <a:lnTo>
                    <a:pt x="163944" y="0"/>
                  </a:lnTo>
                  <a:lnTo>
                    <a:pt x="0" y="112445"/>
                  </a:lnTo>
                  <a:lnTo>
                    <a:pt x="19977" y="141579"/>
                  </a:lnTo>
                  <a:lnTo>
                    <a:pt x="164147" y="42697"/>
                  </a:lnTo>
                  <a:lnTo>
                    <a:pt x="273126" y="115900"/>
                  </a:lnTo>
                  <a:lnTo>
                    <a:pt x="272503" y="300634"/>
                  </a:lnTo>
                  <a:lnTo>
                    <a:pt x="298246" y="300634"/>
                  </a:lnTo>
                  <a:lnTo>
                    <a:pt x="298246" y="132778"/>
                  </a:lnTo>
                  <a:lnTo>
                    <a:pt x="311505" y="141668"/>
                  </a:lnTo>
                  <a:lnTo>
                    <a:pt x="331203" y="112344"/>
                  </a:lnTo>
                  <a:close/>
                </a:path>
              </a:pathLst>
            </a:custGeom>
            <a:solidFill>
              <a:srgbClr val="FBBD2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2100" y="1674024"/>
            <a:ext cx="3629153" cy="3659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003566"/>
                </a:solidFill>
                <a:latin typeface="+mj-lt"/>
                <a:cs typeface="Arial"/>
              </a:rPr>
              <a:t>IMPACT</a:t>
            </a:r>
          </a:p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200" u="sng" dirty="0">
              <a:solidFill>
                <a:srgbClr val="003566"/>
              </a:solidFill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566"/>
                </a:solidFill>
                <a:latin typeface="Arial"/>
                <a:cs typeface="Arial"/>
              </a:rPr>
              <a:t>Hospital-at-Home program at </a:t>
            </a:r>
            <a:r>
              <a:rPr lang="en-US" sz="1600" b="1" dirty="0">
                <a:solidFill>
                  <a:srgbClr val="003566"/>
                </a:solidFill>
                <a:latin typeface="Arial"/>
                <a:cs typeface="Arial"/>
              </a:rPr>
              <a:t>1/50</a:t>
            </a:r>
            <a:r>
              <a:rPr lang="en-US" sz="1600" b="1" baseline="30000" dirty="0">
                <a:solidFill>
                  <a:srgbClr val="003566"/>
                </a:solidFill>
                <a:latin typeface="Arial"/>
                <a:cs typeface="Arial"/>
              </a:rPr>
              <a:t>th</a:t>
            </a:r>
            <a:r>
              <a:rPr lang="en-US" sz="1600" dirty="0">
                <a:solidFill>
                  <a:srgbClr val="003566"/>
                </a:solidFill>
                <a:latin typeface="Arial"/>
                <a:cs typeface="Arial"/>
              </a:rPr>
              <a:t> of the cost of hospital-based care </a:t>
            </a:r>
            <a:r>
              <a:rPr lang="en-US" sz="1400" i="1" dirty="0">
                <a:solidFill>
                  <a:srgbClr val="003566"/>
                </a:solidFill>
                <a:latin typeface="Arial"/>
                <a:cs typeface="Arial"/>
              </a:rPr>
              <a:t>(Health Affairs)</a:t>
            </a:r>
          </a:p>
          <a:p>
            <a:pPr marL="298450" marR="5080" indent="-285750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566"/>
                </a:solidFill>
                <a:latin typeface="Arial"/>
                <a:cs typeface="Arial"/>
              </a:rPr>
              <a:t>Remote Patient Monitoring (RPM) program increased inpatient bed capacity by </a:t>
            </a:r>
            <a:r>
              <a:rPr lang="en-US" sz="1600" b="1" dirty="0">
                <a:solidFill>
                  <a:srgbClr val="003566"/>
                </a:solidFill>
                <a:latin typeface="Arial"/>
                <a:cs typeface="Arial"/>
              </a:rPr>
              <a:t>70%</a:t>
            </a:r>
          </a:p>
          <a:p>
            <a:pPr marL="298450" marR="5080" indent="-285750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566"/>
                </a:solidFill>
                <a:latin typeface="Arial"/>
                <a:cs typeface="Arial"/>
              </a:rPr>
              <a:t>Rural telehealth program decreased readmissions </a:t>
            </a:r>
            <a:r>
              <a:rPr lang="en-US" sz="1600" b="1" dirty="0">
                <a:solidFill>
                  <a:srgbClr val="003566"/>
                </a:solidFill>
                <a:latin typeface="Arial"/>
                <a:cs typeface="Arial"/>
              </a:rPr>
              <a:t>47% </a:t>
            </a:r>
            <a:r>
              <a:rPr lang="en-US" sz="1600" dirty="0">
                <a:solidFill>
                  <a:srgbClr val="003566"/>
                </a:solidFill>
                <a:latin typeface="Arial"/>
                <a:cs typeface="Arial"/>
              </a:rPr>
              <a:t>post-discharge</a:t>
            </a:r>
          </a:p>
          <a:p>
            <a:pPr marL="298450" marR="5080" indent="-285750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3566"/>
                </a:solidFill>
                <a:latin typeface="Arial"/>
                <a:cs typeface="Arial"/>
              </a:rPr>
              <a:t>NIH</a:t>
            </a:r>
            <a:r>
              <a:rPr lang="en-US" sz="1600" dirty="0">
                <a:solidFill>
                  <a:srgbClr val="003566"/>
                </a:solidFill>
                <a:latin typeface="Arial"/>
                <a:cs typeface="Arial"/>
              </a:rPr>
              <a:t> funded AI+Aging program for falls risk assessment &amp; prevention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6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9863" y="5927799"/>
            <a:ext cx="189223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chemeClr val="accent6"/>
                </a:solidFill>
                <a:latin typeface="Arial"/>
                <a:cs typeface="Arial"/>
              </a:rPr>
              <a:t>½ </a:t>
            </a:r>
            <a:r>
              <a:rPr sz="1000" b="1" spc="-10" dirty="0">
                <a:solidFill>
                  <a:schemeClr val="accent6"/>
                </a:solidFill>
                <a:latin typeface="Arial"/>
                <a:cs typeface="Arial"/>
              </a:rPr>
              <a:t>BILLION</a:t>
            </a:r>
            <a:r>
              <a:rPr sz="1000" b="1" spc="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chemeClr val="accent6"/>
                </a:solidFill>
                <a:latin typeface="Arial"/>
                <a:cs typeface="Arial"/>
              </a:rPr>
              <a:t>DATA</a:t>
            </a:r>
            <a:r>
              <a:rPr sz="1000" b="1" spc="-30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accent6"/>
                </a:solidFill>
                <a:latin typeface="Arial"/>
                <a:cs typeface="Arial"/>
              </a:rPr>
              <a:t>INVOCATIONS YEARLY</a:t>
            </a:r>
            <a:endParaRPr sz="10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1238" y="5927799"/>
            <a:ext cx="13163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000" b="1" dirty="0">
                <a:solidFill>
                  <a:schemeClr val="accent6"/>
                </a:solidFill>
                <a:latin typeface="Arial"/>
                <a:cs typeface="Arial"/>
              </a:rPr>
              <a:t>50</a:t>
            </a:r>
            <a:r>
              <a:rPr sz="1000" b="1" dirty="0">
                <a:solidFill>
                  <a:schemeClr val="accent6"/>
                </a:solidFill>
                <a:latin typeface="Arial"/>
                <a:cs typeface="Arial"/>
              </a:rPr>
              <a:t>0K+</a:t>
            </a:r>
            <a:r>
              <a:rPr sz="1000" b="1" spc="-20" dirty="0">
                <a:solidFill>
                  <a:schemeClr val="accent6"/>
                </a:solidFill>
                <a:latin typeface="Arial"/>
                <a:cs typeface="Arial"/>
              </a:rPr>
              <a:t> PATIENT</a:t>
            </a:r>
            <a:r>
              <a:rPr sz="1000" b="1" spc="-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accent6"/>
                </a:solidFill>
                <a:latin typeface="Arial"/>
                <a:cs typeface="Arial"/>
              </a:rPr>
              <a:t>SERVICES</a:t>
            </a:r>
            <a:endParaRPr sz="10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700" y="5927799"/>
            <a:ext cx="135763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000" b="1" dirty="0">
                <a:solidFill>
                  <a:schemeClr val="accent6"/>
                </a:solidFill>
                <a:latin typeface="Arial"/>
                <a:cs typeface="Arial"/>
              </a:rPr>
              <a:t>7</a:t>
            </a:r>
            <a:r>
              <a:rPr sz="1000" b="1" dirty="0">
                <a:solidFill>
                  <a:schemeClr val="accent6"/>
                </a:solidFill>
                <a:latin typeface="Arial"/>
                <a:cs typeface="Arial"/>
              </a:rPr>
              <a:t>0K</a:t>
            </a:r>
            <a:r>
              <a:rPr sz="1000" b="1" spc="-3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chemeClr val="accent6"/>
                </a:solidFill>
                <a:latin typeface="Arial"/>
                <a:cs typeface="Arial"/>
              </a:rPr>
              <a:t>CONNECTED</a:t>
            </a:r>
            <a:r>
              <a:rPr sz="1000" b="1" spc="-30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accent6"/>
                </a:solidFill>
                <a:latin typeface="Arial"/>
                <a:cs typeface="Arial"/>
              </a:rPr>
              <a:t>DEVICES</a:t>
            </a:r>
            <a:r>
              <a:rPr lang="en-US" sz="1000" b="1" spc="-10" dirty="0">
                <a:solidFill>
                  <a:schemeClr val="accent6"/>
                </a:solidFill>
                <a:latin typeface="Arial"/>
                <a:cs typeface="Arial"/>
              </a:rPr>
              <a:t> DAILY</a:t>
            </a:r>
            <a:endParaRPr sz="10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490570" y="312483"/>
            <a:ext cx="719180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566"/>
                </a:solidFill>
                <a:latin typeface="+mj-lt"/>
                <a:hlinkClick r:id="rId3"/>
              </a:rPr>
              <a:t>ECG</a:t>
            </a:r>
            <a:r>
              <a:rPr sz="3600" spc="-75" dirty="0">
                <a:solidFill>
                  <a:srgbClr val="003566"/>
                </a:solidFill>
                <a:latin typeface="+mj-lt"/>
              </a:rPr>
              <a:t> </a:t>
            </a:r>
            <a:r>
              <a:rPr lang="en-US" sz="3600" dirty="0">
                <a:solidFill>
                  <a:srgbClr val="003566"/>
                </a:solidFill>
                <a:latin typeface="+mj-lt"/>
              </a:rPr>
              <a:t>Datasheet </a:t>
            </a:r>
            <a:endParaRPr sz="3600" spc="-10" dirty="0">
              <a:latin typeface="+mj-l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88900" y="6561832"/>
            <a:ext cx="20192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r>
              <a:rPr lang="en-US" spc="-50" dirty="0"/>
              <a:t>  </a:t>
            </a:r>
            <a:endParaRPr spc="-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7E3EB-D149-3302-9AD1-F14AC3B752C4}"/>
              </a:ext>
            </a:extLst>
          </p:cNvPr>
          <p:cNvSpPr txBox="1"/>
          <p:nvPr/>
        </p:nvSpPr>
        <p:spPr>
          <a:xfrm>
            <a:off x="6616700" y="3044460"/>
            <a:ext cx="4494589" cy="2277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ECG is a top telehealth company to know </a:t>
            </a:r>
            <a:r>
              <a:rPr lang="en-US" sz="1400" u="sng" dirty="0">
                <a:solidFill>
                  <a:srgbClr val="467886"/>
                </a:solidFill>
                <a:effectLst/>
                <a:latin typeface="Helvetica Neue"/>
                <a:ea typeface="Aptos" panose="020B0004020202020204" pitchFamily="34" charset="0"/>
                <a:cs typeface="Aptos" panose="020B0004020202020204" pitchFamily="34" charset="0"/>
                <a:hlinkClick r:id="rId4"/>
              </a:rPr>
              <a:t>https://www.beckershospitalreview.com/lists/297-telehealth-companies-to-know-2024.html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ECG #3 in Top 10 telehealth companies </a:t>
            </a:r>
            <a:r>
              <a:rPr lang="en-US" sz="14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5"/>
              </a:rPr>
              <a:t>https://healthcare-digital.com/telehealth-and-covid-19/top-10-telehealth-companies-supporting-users-post-covid-19</a:t>
            </a:r>
            <a:endParaRPr lang="en-US" sz="14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</p:txBody>
      </p:sp>
      <p:pic>
        <p:nvPicPr>
          <p:cNvPr id="21" name="Picture 20" descr="A close up of a sign&#10;&#10;Description automatically generated">
            <a:extLst>
              <a:ext uri="{FF2B5EF4-FFF2-40B4-BE49-F238E27FC236}">
                <a16:creationId xmlns:a16="http://schemas.microsoft.com/office/drawing/2014/main" id="{9FF47F40-BC06-EE0C-C113-F8260516A62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00" y="1961056"/>
            <a:ext cx="4465707" cy="990686"/>
          </a:xfrm>
          <a:prstGeom prst="rect">
            <a:avLst/>
          </a:prstGeom>
        </p:spPr>
      </p:pic>
      <p:pic>
        <p:nvPicPr>
          <p:cNvPr id="22" name="Picture 21" descr="A blue and white logo&#10;&#10;Description automatically generated">
            <a:extLst>
              <a:ext uri="{FF2B5EF4-FFF2-40B4-BE49-F238E27FC236}">
                <a16:creationId xmlns:a16="http://schemas.microsoft.com/office/drawing/2014/main" id="{724B5DDE-0D78-A92A-8D32-4C68502309B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913" y="5318074"/>
            <a:ext cx="2562376" cy="85412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A187D5-E55C-703C-6EF4-A547AF6B9348}"/>
              </a:ext>
            </a:extLst>
          </p:cNvPr>
          <p:cNvSpPr txBox="1"/>
          <p:nvPr/>
        </p:nvSpPr>
        <p:spPr>
          <a:xfrm>
            <a:off x="-88900" y="6400800"/>
            <a:ext cx="6118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2"/>
                </a:solidFill>
                <a:latin typeface="+mn-lt"/>
              </a:rPr>
              <a:t>ECG’s AWS-based PaaS built to support 100MM users</a:t>
            </a:r>
          </a:p>
        </p:txBody>
      </p:sp>
      <p:pic>
        <p:nvPicPr>
          <p:cNvPr id="25" name="Picture 24" descr="A purple mountain logo with blue text&#10;&#10;AI-generated content may be incorrect.">
            <a:extLst>
              <a:ext uri="{FF2B5EF4-FFF2-40B4-BE49-F238E27FC236}">
                <a16:creationId xmlns:a16="http://schemas.microsoft.com/office/drawing/2014/main" id="{99D83119-11D0-BD99-7A37-5D57A34838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179" y="3581400"/>
            <a:ext cx="1490980" cy="1490980"/>
          </a:xfrm>
          <a:prstGeom prst="rect">
            <a:avLst/>
          </a:prstGeom>
        </p:spPr>
      </p:pic>
      <p:pic>
        <p:nvPicPr>
          <p:cNvPr id="27" name="Picture 26" descr="A logo with green letters&#10;&#10;AI-generated content may be incorrect.">
            <a:extLst>
              <a:ext uri="{FF2B5EF4-FFF2-40B4-BE49-F238E27FC236}">
                <a16:creationId xmlns:a16="http://schemas.microsoft.com/office/drawing/2014/main" id="{CC8104DC-6BF6-C226-9C76-CF7B1D1A458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452" y="3499318"/>
            <a:ext cx="1077373" cy="463082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49300" y="5214319"/>
            <a:ext cx="4704616" cy="653081"/>
            <a:chOff x="6638000" y="5029201"/>
            <a:chExt cx="4927600" cy="784225"/>
          </a:xfrm>
        </p:grpSpPr>
        <p:pic>
          <p:nvPicPr>
            <p:cNvPr id="16" name="object 16"/>
            <p:cNvPicPr/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Glass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38000" y="5109300"/>
              <a:ext cx="889317" cy="6684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76121" y="5073627"/>
              <a:ext cx="889341" cy="7395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37971" y="5029201"/>
              <a:ext cx="748518" cy="748507"/>
            </a:xfrm>
            <a:prstGeom prst="rect">
              <a:avLst/>
            </a:prstGeom>
          </p:spPr>
        </p:pic>
      </p:grpSp>
      <p:pic>
        <p:nvPicPr>
          <p:cNvPr id="35" name="Picture 34" descr="A grey rectangular sign with white text&#10;&#10;AI-generated content may be incorrect.">
            <a:extLst>
              <a:ext uri="{FF2B5EF4-FFF2-40B4-BE49-F238E27FC236}">
                <a16:creationId xmlns:a16="http://schemas.microsoft.com/office/drawing/2014/main" id="{3475491A-0E0A-1CF2-28BE-A5BF9FBEB50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2102330"/>
            <a:ext cx="876487" cy="876487"/>
          </a:xfrm>
          <a:prstGeom prst="rect">
            <a:avLst/>
          </a:prstGeom>
        </p:spPr>
      </p:pic>
      <p:pic>
        <p:nvPicPr>
          <p:cNvPr id="37" name="Picture 36" descr="A logo for a medical clinic&#10;&#10;AI-generated content may be incorrect.">
            <a:extLst>
              <a:ext uri="{FF2B5EF4-FFF2-40B4-BE49-F238E27FC236}">
                <a16:creationId xmlns:a16="http://schemas.microsoft.com/office/drawing/2014/main" id="{99BF245D-B1AE-3FE1-170E-705553A8193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826" y="1942213"/>
            <a:ext cx="814618" cy="814618"/>
          </a:xfrm>
          <a:prstGeom prst="rect">
            <a:avLst/>
          </a:prstGeom>
        </p:spPr>
      </p:pic>
      <p:pic>
        <p:nvPicPr>
          <p:cNvPr id="31" name="Picture 30" descr="A blue logo with a letter m&#10;&#10;AI-generated content may be incorrect.">
            <a:extLst>
              <a:ext uri="{FF2B5EF4-FFF2-40B4-BE49-F238E27FC236}">
                <a16:creationId xmlns:a16="http://schemas.microsoft.com/office/drawing/2014/main" id="{4A5F64FB-9D4C-C675-3DCE-53CFECBD4F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099" y="2833688"/>
            <a:ext cx="1677770" cy="519112"/>
          </a:xfrm>
          <a:prstGeom prst="rect">
            <a:avLst/>
          </a:prstGeom>
        </p:spPr>
      </p:pic>
      <p:pic>
        <p:nvPicPr>
          <p:cNvPr id="39" name="Picture 38" descr="A black and white logo&#10;&#10;AI-generated content may be incorrect.">
            <a:extLst>
              <a:ext uri="{FF2B5EF4-FFF2-40B4-BE49-F238E27FC236}">
                <a16:creationId xmlns:a16="http://schemas.microsoft.com/office/drawing/2014/main" id="{15F9BBC9-F1A2-8FF2-3A34-EE0492979C38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358" y="4414185"/>
            <a:ext cx="1522350" cy="7984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113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Helvetica Neue</vt:lpstr>
      <vt:lpstr>Symbol</vt:lpstr>
      <vt:lpstr>Office Theme</vt:lpstr>
      <vt:lpstr>ECG Datasheet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 Francis</dc:creator>
  <cp:lastModifiedBy>Mark Francis</cp:lastModifiedBy>
  <cp:revision>10</cp:revision>
  <cp:lastPrinted>2024-08-08T19:56:18Z</cp:lastPrinted>
  <dcterms:created xsi:type="dcterms:W3CDTF">2024-08-08T15:48:22Z</dcterms:created>
  <dcterms:modified xsi:type="dcterms:W3CDTF">2025-05-13T16:22:58Z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2024-07-19T00:00:00Z</vt:filetime>
  </property>
  <property fmtid="{D5CDD505-2E9C-101B-9397-08002B2CF9AE}" pid="3" name="Creator">
    <vt:lpwstr>Adobe InDesign 19.5 (Macintosh)</vt:lpwstr>
  </property>
  <property fmtid="{D5CDD505-2E9C-101B-9397-08002B2CF9AE}" pid="4" name="LastSaved">
    <vt:filetime>2024-08-08T00:00:00Z</vt:filetime>
  </property>
  <property fmtid="{D5CDD505-2E9C-101B-9397-08002B2CF9AE}" pid="5" name="Producer">
    <vt:lpwstr>Adobe PDF Library 17.0</vt:lpwstr>
  </property>
</Properties>
</file>