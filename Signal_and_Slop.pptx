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  <p:sldMasterId id="2147483765" r:id="rId5"/>
  </p:sldMasterIdLst>
  <p:notesMasterIdLst>
    <p:notesMasterId r:id="rId16"/>
  </p:notesMasterIdLst>
  <p:sldIdLst>
    <p:sldId id="257" r:id="rId6"/>
    <p:sldId id="258" r:id="rId7"/>
    <p:sldId id="259" r:id="rId8"/>
    <p:sldId id="261" r:id="rId9"/>
    <p:sldId id="263" r:id="rId10"/>
    <p:sldId id="260" r:id="rId11"/>
    <p:sldId id="264" r:id="rId12"/>
    <p:sldId id="267" r:id="rId13"/>
    <p:sldId id="268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2E23FBE-ABC1-EA42-8BD0-16BEBD7EF442}">
          <p14:sldIdLst>
            <p14:sldId id="257"/>
            <p14:sldId id="258"/>
            <p14:sldId id="259"/>
            <p14:sldId id="261"/>
            <p14:sldId id="263"/>
            <p14:sldId id="260"/>
            <p14:sldId id="264"/>
            <p14:sldId id="267"/>
            <p14:sldId id="268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et Harvey" initials="JH" lastIdx="28" clrIdx="0">
    <p:extLst>
      <p:ext uri="{19B8F6BF-5375-455C-9EA6-DF929625EA0E}">
        <p15:presenceInfo xmlns:p15="http://schemas.microsoft.com/office/powerpoint/2012/main" userId="S::JHARVEY@MITRE.ORG::b4608c05-6e59-4bf3-87d1-9c858e88a1e6" providerId="AD"/>
      </p:ext>
    </p:extLst>
  </p:cmAuthor>
  <p:cmAuthor id="2" name="Jeri Taylor" initials="JT" lastIdx="18" clrIdx="1">
    <p:extLst>
      <p:ext uri="{19B8F6BF-5375-455C-9EA6-DF929625EA0E}">
        <p15:presenceInfo xmlns:p15="http://schemas.microsoft.com/office/powerpoint/2012/main" userId="S::JERITAYLOR@MITRE.ORG::3822cdb7-5e08-491b-ba3c-d06f7974d21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E52"/>
    <a:srgbClr val="ECECEC"/>
    <a:srgbClr val="0D2541"/>
    <a:srgbClr val="FFFFFF"/>
    <a:srgbClr val="FFFC00"/>
    <a:srgbClr val="0E2641"/>
    <a:srgbClr val="000000"/>
    <a:srgbClr val="E5EEEF"/>
    <a:srgbClr val="335EAC"/>
    <a:srgbClr val="39C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7" autoAdjust="0"/>
    <p:restoredTop sz="96327" autoAdjust="0"/>
  </p:normalViewPr>
  <p:slideViewPr>
    <p:cSldViewPr snapToObjects="1" showGuides="1">
      <p:cViewPr varScale="1">
        <p:scale>
          <a:sx n="134" d="100"/>
          <a:sy n="134" d="100"/>
        </p:scale>
        <p:origin x="28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11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F41DA98-DD0A-1B4F-A599-A48A0F931A5C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3E89008-A845-3542-9030-80EE4706E7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45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7F9F-3202-B443-A87A-BDA16F4A1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832" y="1303655"/>
            <a:ext cx="9144000" cy="2009720"/>
          </a:xfrm>
        </p:spPr>
        <p:txBody>
          <a:bodyPr anchor="b" anchorCtr="0"/>
          <a:lstStyle>
            <a:lvl1pPr algn="l">
              <a:lnSpc>
                <a:spcPct val="100000"/>
              </a:lnSpc>
              <a:spcBef>
                <a:spcPts val="1000"/>
              </a:spcBef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F059-95DD-D442-8A2F-BA0EC6593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832" y="3446675"/>
            <a:ext cx="9144000" cy="56005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791879-EF0E-4A4B-8C65-7D96C9E4D6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832" y="4090988"/>
            <a:ext cx="5547360" cy="4572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L-Shape 7">
            <a:extLst>
              <a:ext uri="{FF2B5EF4-FFF2-40B4-BE49-F238E27FC236}">
                <a16:creationId xmlns:a16="http://schemas.microsoft.com/office/drawing/2014/main" id="{627D74A7-CAEB-98F9-F37F-9F1F8B01B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81810" y="304800"/>
            <a:ext cx="1550581" cy="1560820"/>
          </a:xfrm>
          <a:custGeom>
            <a:avLst/>
            <a:gdLst>
              <a:gd name="connsiteX0" fmla="*/ 0 w 1550581"/>
              <a:gd name="connsiteY0" fmla="*/ 0 h 1532133"/>
              <a:gd name="connsiteX1" fmla="*/ 305630 w 1550581"/>
              <a:gd name="connsiteY1" fmla="*/ 0 h 1532133"/>
              <a:gd name="connsiteX2" fmla="*/ 305630 w 1550581"/>
              <a:gd name="connsiteY2" fmla="*/ 1226503 h 1532133"/>
              <a:gd name="connsiteX3" fmla="*/ 1550581 w 1550581"/>
              <a:gd name="connsiteY3" fmla="*/ 1226503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32133"/>
              <a:gd name="connsiteX1" fmla="*/ 312115 w 1550581"/>
              <a:gd name="connsiteY1" fmla="*/ 285344 h 1532133"/>
              <a:gd name="connsiteX2" fmla="*/ 305630 w 1550581"/>
              <a:gd name="connsiteY2" fmla="*/ 1226503 h 1532133"/>
              <a:gd name="connsiteX3" fmla="*/ 1550581 w 1550581"/>
              <a:gd name="connsiteY3" fmla="*/ 1226503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32133"/>
              <a:gd name="connsiteX1" fmla="*/ 312115 w 1550581"/>
              <a:gd name="connsiteY1" fmla="*/ 285344 h 1532133"/>
              <a:gd name="connsiteX2" fmla="*/ 305630 w 1550581"/>
              <a:gd name="connsiteY2" fmla="*/ 1226503 h 1532133"/>
              <a:gd name="connsiteX3" fmla="*/ 1252266 w 1550581"/>
              <a:gd name="connsiteY3" fmla="*/ 1232988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60820"/>
              <a:gd name="connsiteX1" fmla="*/ 312115 w 1550581"/>
              <a:gd name="connsiteY1" fmla="*/ 314031 h 1560820"/>
              <a:gd name="connsiteX2" fmla="*/ 305630 w 1550581"/>
              <a:gd name="connsiteY2" fmla="*/ 1255190 h 1560820"/>
              <a:gd name="connsiteX3" fmla="*/ 1252266 w 1550581"/>
              <a:gd name="connsiteY3" fmla="*/ 1261675 h 1560820"/>
              <a:gd name="connsiteX4" fmla="*/ 1550581 w 1550581"/>
              <a:gd name="connsiteY4" fmla="*/ 1560820 h 1560820"/>
              <a:gd name="connsiteX5" fmla="*/ 0 w 1550581"/>
              <a:gd name="connsiteY5" fmla="*/ 1560820 h 1560820"/>
              <a:gd name="connsiteX6" fmla="*/ 0 w 1550581"/>
              <a:gd name="connsiteY6" fmla="*/ 0 h 156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0581" h="1560820">
                <a:moveTo>
                  <a:pt x="0" y="0"/>
                </a:moveTo>
                <a:lnTo>
                  <a:pt x="312115" y="314031"/>
                </a:lnTo>
                <a:cubicBezTo>
                  <a:pt x="309953" y="627751"/>
                  <a:pt x="307792" y="941470"/>
                  <a:pt x="305630" y="1255190"/>
                </a:cubicBezTo>
                <a:lnTo>
                  <a:pt x="1252266" y="1261675"/>
                </a:lnTo>
                <a:lnTo>
                  <a:pt x="1550581" y="1560820"/>
                </a:lnTo>
                <a:lnTo>
                  <a:pt x="0" y="1560820"/>
                </a:lnTo>
                <a:lnTo>
                  <a:pt x="0" y="0"/>
                </a:lnTo>
                <a:close/>
              </a:path>
            </a:pathLst>
          </a:custGeom>
          <a:solidFill>
            <a:srgbClr val="D4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L-Shape 7">
            <a:extLst>
              <a:ext uri="{FF2B5EF4-FFF2-40B4-BE49-F238E27FC236}">
                <a16:creationId xmlns:a16="http://schemas.microsoft.com/office/drawing/2014/main" id="{0FC42BD0-018E-BF97-9D84-4466B6D49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5077001"/>
            <a:ext cx="1550581" cy="1560820"/>
          </a:xfrm>
          <a:custGeom>
            <a:avLst/>
            <a:gdLst>
              <a:gd name="connsiteX0" fmla="*/ 0 w 1550581"/>
              <a:gd name="connsiteY0" fmla="*/ 0 h 1532133"/>
              <a:gd name="connsiteX1" fmla="*/ 305630 w 1550581"/>
              <a:gd name="connsiteY1" fmla="*/ 0 h 1532133"/>
              <a:gd name="connsiteX2" fmla="*/ 305630 w 1550581"/>
              <a:gd name="connsiteY2" fmla="*/ 1226503 h 1532133"/>
              <a:gd name="connsiteX3" fmla="*/ 1550581 w 1550581"/>
              <a:gd name="connsiteY3" fmla="*/ 1226503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32133"/>
              <a:gd name="connsiteX1" fmla="*/ 312115 w 1550581"/>
              <a:gd name="connsiteY1" fmla="*/ 285344 h 1532133"/>
              <a:gd name="connsiteX2" fmla="*/ 305630 w 1550581"/>
              <a:gd name="connsiteY2" fmla="*/ 1226503 h 1532133"/>
              <a:gd name="connsiteX3" fmla="*/ 1550581 w 1550581"/>
              <a:gd name="connsiteY3" fmla="*/ 1226503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32133"/>
              <a:gd name="connsiteX1" fmla="*/ 312115 w 1550581"/>
              <a:gd name="connsiteY1" fmla="*/ 285344 h 1532133"/>
              <a:gd name="connsiteX2" fmla="*/ 305630 w 1550581"/>
              <a:gd name="connsiteY2" fmla="*/ 1226503 h 1532133"/>
              <a:gd name="connsiteX3" fmla="*/ 1252266 w 1550581"/>
              <a:gd name="connsiteY3" fmla="*/ 1232988 h 1532133"/>
              <a:gd name="connsiteX4" fmla="*/ 1550581 w 1550581"/>
              <a:gd name="connsiteY4" fmla="*/ 1532133 h 1532133"/>
              <a:gd name="connsiteX5" fmla="*/ 0 w 1550581"/>
              <a:gd name="connsiteY5" fmla="*/ 1532133 h 1532133"/>
              <a:gd name="connsiteX6" fmla="*/ 0 w 1550581"/>
              <a:gd name="connsiteY6" fmla="*/ 0 h 1532133"/>
              <a:gd name="connsiteX0" fmla="*/ 0 w 1550581"/>
              <a:gd name="connsiteY0" fmla="*/ 0 h 1560820"/>
              <a:gd name="connsiteX1" fmla="*/ 312115 w 1550581"/>
              <a:gd name="connsiteY1" fmla="*/ 314031 h 1560820"/>
              <a:gd name="connsiteX2" fmla="*/ 305630 w 1550581"/>
              <a:gd name="connsiteY2" fmla="*/ 1255190 h 1560820"/>
              <a:gd name="connsiteX3" fmla="*/ 1252266 w 1550581"/>
              <a:gd name="connsiteY3" fmla="*/ 1261675 h 1560820"/>
              <a:gd name="connsiteX4" fmla="*/ 1550581 w 1550581"/>
              <a:gd name="connsiteY4" fmla="*/ 1560820 h 1560820"/>
              <a:gd name="connsiteX5" fmla="*/ 0 w 1550581"/>
              <a:gd name="connsiteY5" fmla="*/ 1560820 h 1560820"/>
              <a:gd name="connsiteX6" fmla="*/ 0 w 1550581"/>
              <a:gd name="connsiteY6" fmla="*/ 0 h 1560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0581" h="1560820">
                <a:moveTo>
                  <a:pt x="0" y="0"/>
                </a:moveTo>
                <a:lnTo>
                  <a:pt x="312115" y="314031"/>
                </a:lnTo>
                <a:cubicBezTo>
                  <a:pt x="309953" y="627751"/>
                  <a:pt x="307792" y="941470"/>
                  <a:pt x="305630" y="1255190"/>
                </a:cubicBezTo>
                <a:lnTo>
                  <a:pt x="1252266" y="1261675"/>
                </a:lnTo>
                <a:lnTo>
                  <a:pt x="1550581" y="1560820"/>
                </a:lnTo>
                <a:lnTo>
                  <a:pt x="0" y="1560820"/>
                </a:lnTo>
                <a:lnTo>
                  <a:pt x="0" y="0"/>
                </a:lnTo>
                <a:close/>
              </a:path>
            </a:pathLst>
          </a:custGeom>
          <a:solidFill>
            <a:srgbClr val="D4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7DC737D-7C24-2150-6676-46150B5B8E53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</a:t>
            </a: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MITRE CORPORATION. ALL RIGHTS RESERVED. FOR INTERNAL MITRE USE.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73533748-DC10-A1DE-AE4D-71DAF73D35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5592" y="274485"/>
            <a:ext cx="8656320" cy="560059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2400" b="0">
                <a:solidFill>
                  <a:srgbClr val="FFFC00"/>
                </a:solidFill>
              </a:defRPr>
            </a:lvl1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Disclaimer: Use this title slide with gray framing device for print only.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878661-DEA2-A8F8-CD72-5BFE9D0683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199" y="6296025"/>
            <a:ext cx="1068659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9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164F8F-2BF9-7D49-8924-6537913F6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720" y="1371600"/>
            <a:ext cx="11338560" cy="4572000"/>
          </a:xfrm>
        </p:spPr>
        <p:txBody>
          <a:bodyPr/>
          <a:lstStyle>
            <a:lvl1pPr marL="228600" indent="-21907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sz="2400" b="0"/>
            </a:lvl1pPr>
            <a:lvl2pPr marL="457200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sz="2000"/>
            </a:lvl2pPr>
            <a:lvl3pPr marL="690563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 sz="1800"/>
            </a:lvl3pPr>
            <a:lvl4pPr marL="914400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 sz="1600"/>
            </a:lvl4pPr>
            <a:lvl5pPr marL="1138238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AA88A921-CA79-0F07-323B-93C84ACFFD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409" y="6373368"/>
            <a:ext cx="664466" cy="182880"/>
          </a:xfrm>
          <a:prstGeom prst="rect">
            <a:avLst/>
          </a:prstGeom>
        </p:spPr>
      </p:pic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CF1DB820-D5B7-26F1-DDC0-9A4A8A3FD16C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THE MITRE CORPORATION. ALL RIGHTS RESERVED. FOR INTERNAL MITRE USE.</a:t>
            </a:r>
          </a:p>
        </p:txBody>
      </p:sp>
    </p:spTree>
    <p:extLst>
      <p:ext uri="{BB962C8B-B14F-4D97-AF65-F5344CB8AC3E}">
        <p14:creationId xmlns:p14="http://schemas.microsoft.com/office/powerpoint/2010/main" val="14456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727B-F77C-0F4F-B8FC-A3CB54F7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680" y="6400800"/>
            <a:ext cx="621792" cy="182880"/>
          </a:xfrm>
        </p:spPr>
        <p:txBody>
          <a:bodyPr/>
          <a:lstStyle/>
          <a:p>
            <a:fld id="{BECF63ED-5365-0347-943C-46237B9951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7BA89-147B-D544-859D-FE287147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2926080"/>
            <a:ext cx="10515600" cy="84023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3600"/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129761E5-6C3D-CBF6-686B-390C2DECDF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409" y="6373368"/>
            <a:ext cx="664466" cy="182880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2619EF35-2E7D-4151-8BAE-244754AB9BF2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THE MITRE CORPORATION. ALL RIGHTS RESERVED. FOR INTERNAL MITRE USE.</a:t>
            </a:r>
          </a:p>
        </p:txBody>
      </p:sp>
    </p:spTree>
    <p:extLst>
      <p:ext uri="{BB962C8B-B14F-4D97-AF65-F5344CB8AC3E}">
        <p14:creationId xmlns:p14="http://schemas.microsoft.com/office/powerpoint/2010/main" val="128345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5583B77-0D77-A34E-8283-81275F3E94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2971800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CF98308-AFBC-E14C-A180-1231217F1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7280" y="3593030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 err="1"/>
              <a:t>email@mitre.org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2210306-A808-2E4A-B31D-FFC4F65B2E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7280" y="4214260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/>
              <a:t>@</a:t>
            </a:r>
            <a:r>
              <a:rPr lang="en-US" dirty="0" err="1"/>
              <a:t>XHandle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717D3CB-D2D4-6A49-BA33-1E044F035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4835491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 err="1"/>
              <a:t>linkedin.com</a:t>
            </a:r>
            <a:r>
              <a:rPr lang="en-US" dirty="0"/>
              <a:t>/in/</a:t>
            </a:r>
            <a:r>
              <a:rPr lang="en-US" dirty="0" err="1"/>
              <a:t>firstnamelastname</a:t>
            </a:r>
            <a:endParaRPr lang="en-US" dirty="0"/>
          </a:p>
        </p:txBody>
      </p:sp>
      <p:pic>
        <p:nvPicPr>
          <p:cNvPr id="13" name="Picture 12" descr="Linkedin Logo, icon">
            <a:extLst>
              <a:ext uri="{FF2B5EF4-FFF2-40B4-BE49-F238E27FC236}">
                <a16:creationId xmlns:a16="http://schemas.microsoft.com/office/drawing/2014/main" id="{FC95A8AC-CCAE-4A4A-8478-7FEF6A955D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926931"/>
            <a:ext cx="537633" cy="457200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1A2D8A-2B10-8BAB-78A7-A464B98605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3271" y="4343400"/>
            <a:ext cx="345490" cy="352975"/>
          </a:xfrm>
          <a:prstGeom prst="rect">
            <a:avLst/>
          </a:prstGeom>
        </p:spPr>
      </p:pic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FD765700-F3C2-DEC5-46DF-73E46CBE0B36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THE MITRE CORPORATION. ALL RIGHTS RESERVED. FOR INTERNAL MITRE 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616B1-A0C4-353D-3C2B-9218E67561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63199" y="6296025"/>
            <a:ext cx="1068659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164F8F-2BF9-7D49-8924-6537913F6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720" y="1371600"/>
            <a:ext cx="11338560" cy="4572000"/>
          </a:xfrm>
        </p:spPr>
        <p:txBody>
          <a:bodyPr/>
          <a:lstStyle>
            <a:lvl1pPr marL="228600" indent="-21907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sz="2400" b="0"/>
            </a:lvl1pPr>
            <a:lvl2pPr marL="457200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sz="2000"/>
            </a:lvl2pPr>
            <a:lvl3pPr marL="690563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 sz="1800"/>
            </a:lvl3pPr>
            <a:lvl4pPr marL="914400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 sz="1600"/>
            </a:lvl4pPr>
            <a:lvl5pPr marL="1138238" indent="-228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AA88A921-CA79-0F07-323B-93C84ACFFD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409" y="6373368"/>
            <a:ext cx="664466" cy="182880"/>
          </a:xfrm>
          <a:prstGeom prst="rect">
            <a:avLst/>
          </a:prstGeom>
        </p:spPr>
      </p:pic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CF1DB820-D5B7-26F1-DDC0-9A4A8A3FD16C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THE MITRE CORPORATION. ALL RIGHTS RESERVED. FOR INTERNAL MITRE USE.</a:t>
            </a:r>
          </a:p>
        </p:txBody>
      </p:sp>
    </p:spTree>
    <p:extLst>
      <p:ext uri="{BB962C8B-B14F-4D97-AF65-F5344CB8AC3E}">
        <p14:creationId xmlns:p14="http://schemas.microsoft.com/office/powerpoint/2010/main" val="428517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7F9F-3202-B443-A87A-BDA16F4A1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832" y="1303655"/>
            <a:ext cx="9144000" cy="2009720"/>
          </a:xfrm>
        </p:spPr>
        <p:txBody>
          <a:bodyPr anchor="b" anchorCtr="0"/>
          <a:lstStyle>
            <a:lvl1pPr algn="l">
              <a:lnSpc>
                <a:spcPct val="100000"/>
              </a:lnSpc>
              <a:spcBef>
                <a:spcPts val="1000"/>
              </a:spcBef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F059-95DD-D442-8A2F-BA0EC6593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832" y="3446675"/>
            <a:ext cx="9144000" cy="560059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7A3D1CCA-73DE-0941-8F45-344E5CC605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834" y="4090988"/>
            <a:ext cx="4687887" cy="62865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spcBef>
                <a:spcPts val="100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4" name="Picture 3" descr="A black rectangle with a yellow background&#10;&#10;Description automatically generated with low confidence">
            <a:extLst>
              <a:ext uri="{FF2B5EF4-FFF2-40B4-BE49-F238E27FC236}">
                <a16:creationId xmlns:a16="http://schemas.microsoft.com/office/drawing/2014/main" id="{87F192F7-A870-1C66-C052-135C9A1A1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2720" y="304800"/>
            <a:ext cx="1554480" cy="1554480"/>
          </a:xfrm>
          <a:prstGeom prst="rect">
            <a:avLst/>
          </a:prstGeom>
        </p:spPr>
      </p:pic>
      <p:pic>
        <p:nvPicPr>
          <p:cNvPr id="6" name="Picture 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B0CBD96-6E87-1AD0-5A0A-6C4DB4D73F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4953000"/>
            <a:ext cx="1554480" cy="1554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4C9B89-4216-8FC1-8F0B-B4309F4297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63200" y="6296025"/>
            <a:ext cx="1068659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9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727B-F77C-0F4F-B8FC-A3CB54F7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681" y="6400800"/>
            <a:ext cx="622739" cy="182880"/>
          </a:xfrm>
        </p:spPr>
        <p:txBody>
          <a:bodyPr/>
          <a:lstStyle/>
          <a:p>
            <a:fld id="{BECF63ED-5365-0347-943C-46237B9951C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7BA89-147B-D544-859D-FE287147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" y="2926080"/>
            <a:ext cx="10515600" cy="84023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1000"/>
              </a:spcBef>
              <a:defRPr sz="3600"/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72AADD74-7242-1716-6D30-C866A71AEF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768" y="6329683"/>
            <a:ext cx="649678" cy="1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8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FEB66-D58C-4868-8D7B-9EAE0C9533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CF63ED-5365-0347-943C-46237B9951C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6248A9C-FC87-1EA0-3FDD-B93D1A9A7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768" y="6329683"/>
            <a:ext cx="649678" cy="1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9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5583B77-0D77-A34E-8283-81275F3E94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7280" y="2971800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CF98308-AFBC-E14C-A180-1231217F1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7280" y="3593592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 err="1"/>
              <a:t>email@mitre.org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2210306-A808-2E4A-B31D-FFC4F65B2E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7280" y="4215384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/>
              <a:t>@</a:t>
            </a:r>
            <a:r>
              <a:rPr lang="en-US" dirty="0" err="1"/>
              <a:t>XHandle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717D3CB-D2D4-6A49-BA33-1E044F035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4837176"/>
            <a:ext cx="7071360" cy="548640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/>
            </a:lvl1pPr>
          </a:lstStyle>
          <a:p>
            <a:pPr lvl="0"/>
            <a:r>
              <a:rPr lang="en-US" dirty="0" err="1"/>
              <a:t>linkedin.com</a:t>
            </a:r>
            <a:r>
              <a:rPr lang="en-US" dirty="0"/>
              <a:t>/in/</a:t>
            </a:r>
            <a:r>
              <a:rPr lang="en-US" dirty="0" err="1"/>
              <a:t>firstnamelastname</a:t>
            </a:r>
            <a:endParaRPr lang="en-US" dirty="0"/>
          </a:p>
        </p:txBody>
      </p:sp>
      <p:pic>
        <p:nvPicPr>
          <p:cNvPr id="7" name="Picture 6" descr="Linkedin Logo, Icon">
            <a:extLst>
              <a:ext uri="{FF2B5EF4-FFF2-40B4-BE49-F238E27FC236}">
                <a16:creationId xmlns:a16="http://schemas.microsoft.com/office/drawing/2014/main" id="{6AE61F59-87BC-46CF-ACD2-A5D8D7179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4928616"/>
            <a:ext cx="537634" cy="457200"/>
          </a:xfrm>
          <a:prstGeom prst="rect">
            <a:avLst/>
          </a:prstGeom>
        </p:spPr>
      </p:pic>
      <p:pic>
        <p:nvPicPr>
          <p:cNvPr id="3" name="Picture 2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C10F9F48-A253-E688-1A6D-0962EE1DCF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" y="4343400"/>
            <a:ext cx="363246" cy="371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97936-C4E6-5100-47A9-2E099426CD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63200" y="6296025"/>
            <a:ext cx="1068659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72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7E923-D905-8B4E-8992-45E91023F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7529" y="6400800"/>
            <a:ext cx="620891" cy="1828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ECF63ED-5365-0347-943C-46237B9951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5A2CC-40DE-704F-AD8E-AE00A98F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7A4B0-99F8-2B4A-9FCE-DFD4168F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0" r:id="rId2"/>
    <p:sldLayoutId id="2147483651" r:id="rId3"/>
    <p:sldLayoutId id="2147483762" r:id="rId4"/>
    <p:sldLayoutId id="214748377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cap="none" baseline="0" dirty="0">
          <a:solidFill>
            <a:schemeClr val="tx2"/>
          </a:solidFill>
          <a:latin typeface="+mn-lt"/>
          <a:ea typeface="+mj-ea"/>
          <a:cs typeface="Arial Narrow" charset="0"/>
        </a:defRPr>
      </a:lvl1pPr>
    </p:titleStyle>
    <p:bodyStyle>
      <a:lvl1pPr marL="223838" indent="-22383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anose="05000000000000000000" pitchFamily="2" charset="2"/>
        <a:buChar char="§"/>
        <a:defRPr lang="en-US" sz="2400" b="0" i="0" kern="1200" cap="none" baseline="0" dirty="0">
          <a:solidFill>
            <a:schemeClr val="tx2"/>
          </a:solidFill>
          <a:latin typeface="+mn-lt"/>
          <a:ea typeface="+mn-ea"/>
          <a:cs typeface="Arial Narrow" charset="0"/>
        </a:defRPr>
      </a:lvl1pPr>
      <a:lvl2pPr marL="466725" indent="-24288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anose="05000000000000000000" pitchFamily="2" charset="2"/>
        <a:buChar char="§"/>
        <a:defRPr lang="en-US" sz="20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2pPr>
      <a:lvl3pPr marL="690563" indent="-23018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tabLst/>
        <a:defRPr lang="en-US" sz="18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3pPr>
      <a:lvl4pPr marL="914400" indent="-23018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tabLst/>
        <a:defRPr lang="en-US" sz="16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4pPr>
      <a:lvl5pPr marL="1138238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tabLst/>
        <a:defRPr lang="en-US" sz="14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64" userDrawn="1">
          <p15:clr>
            <a:srgbClr val="F26B43"/>
          </p15:clr>
        </p15:guide>
        <p15:guide id="3" pos="7416" userDrawn="1">
          <p15:clr>
            <a:srgbClr val="F26B43"/>
          </p15:clr>
        </p15:guide>
        <p15:guide id="4" pos="264" userDrawn="1">
          <p15:clr>
            <a:srgbClr val="F26B43"/>
          </p15:clr>
        </p15:guide>
        <p15:guide id="5" orient="horz" pos="410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orient="horz" pos="420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orient="horz" pos="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7E923-D905-8B4E-8992-45E91023F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681" y="6400800"/>
            <a:ext cx="622739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ECF63ED-5365-0347-943C-46237B9951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5A2CC-40DE-704F-AD8E-AE00A98F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760"/>
            <a:ext cx="1133856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D3792-0FB5-BC4E-8A86-9CB3EDA95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71600"/>
            <a:ext cx="11338851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C11620A9-9184-43BF-4895-94267AC55F78}"/>
              </a:ext>
            </a:extLst>
          </p:cNvPr>
          <p:cNvSpPr txBox="1">
            <a:spLocks/>
          </p:cNvSpPr>
          <p:nvPr userDrawn="1"/>
        </p:nvSpPr>
        <p:spPr>
          <a:xfrm>
            <a:off x="3931920" y="6515816"/>
            <a:ext cx="4392228" cy="235029"/>
          </a:xfrm>
          <a:prstGeom prst="rect">
            <a:avLst/>
          </a:prstGeom>
        </p:spPr>
        <p:txBody>
          <a:bodyPr vert="horz" wrap="none" lIns="0" tIns="55418" rIns="0" bIns="55418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083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</a:t>
            </a:r>
            <a:r>
              <a:rPr kumimoji="0" lang="en-US" sz="800" b="0" i="0" u="none" strike="noStrike" kern="120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MITRE CORPORATION. ALL RIGHTS RESERVED. FOR INTERNAL MITRE USE.</a:t>
            </a:r>
          </a:p>
        </p:txBody>
      </p:sp>
    </p:spTree>
    <p:extLst>
      <p:ext uri="{BB962C8B-B14F-4D97-AF65-F5344CB8AC3E}">
        <p14:creationId xmlns:p14="http://schemas.microsoft.com/office/powerpoint/2010/main" val="120605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66" r:id="rId2"/>
    <p:sldLayoutId id="2147483768" r:id="rId3"/>
    <p:sldLayoutId id="2147483773" r:id="rId4"/>
    <p:sldLayoutId id="2147483774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cap="none" baseline="0" dirty="0">
          <a:solidFill>
            <a:schemeClr val="tx2"/>
          </a:solidFill>
          <a:latin typeface="+mn-lt"/>
          <a:ea typeface="+mj-ea"/>
          <a:cs typeface="Arial Narrow" charset="0"/>
        </a:defRPr>
      </a:lvl1pPr>
    </p:titleStyle>
    <p:bodyStyle>
      <a:lvl1pPr marL="223838" indent="-22383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anose="05000000000000000000" pitchFamily="2" charset="2"/>
        <a:buChar char="§"/>
        <a:defRPr lang="en-US" sz="2400" b="0" i="0" kern="1200" cap="none" baseline="0" dirty="0">
          <a:solidFill>
            <a:schemeClr val="tx2"/>
          </a:solidFill>
          <a:latin typeface="+mn-lt"/>
          <a:ea typeface="+mn-ea"/>
          <a:cs typeface="Arial Narrow" charset="0"/>
        </a:defRPr>
      </a:lvl1pPr>
      <a:lvl2pPr marL="466725" indent="-223838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anose="05000000000000000000" pitchFamily="2" charset="2"/>
        <a:buChar char="§"/>
        <a:defRPr lang="en-US" sz="20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2pPr>
      <a:lvl3pPr marL="690563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defRPr lang="en-US" sz="18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defRPr lang="en-US" sz="16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4pPr>
      <a:lvl5pPr marL="1138238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Wingdings" pitchFamily="2" charset="2"/>
        <a:buChar char="§"/>
        <a:defRPr lang="en-US" sz="1400" b="0" i="0" kern="1200" baseline="0" dirty="0">
          <a:solidFill>
            <a:schemeClr val="tx2"/>
          </a:solidFill>
          <a:latin typeface="+mn-lt"/>
          <a:ea typeface="+mn-ea"/>
          <a:cs typeface="Arial Narrow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pos="3840">
          <p15:clr>
            <a:srgbClr val="F26B43"/>
          </p15:clr>
        </p15:guide>
        <p15:guide id="3" pos="7416">
          <p15:clr>
            <a:srgbClr val="F26B43"/>
          </p15:clr>
        </p15:guide>
        <p15:guide id="4" pos="264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orient="horz" pos="4200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388" y="1303339"/>
            <a:ext cx="9144000" cy="1744662"/>
          </a:xfrm>
        </p:spPr>
        <p:txBody>
          <a:bodyPr/>
          <a:lstStyle/>
          <a:p>
            <a:r>
              <a:rPr lang="en-US"/>
              <a:t>Democratic Denial of Service:</a:t>
            </a:r>
            <a:br>
              <a:rPr lang="en-US"/>
            </a:br>
            <a:r>
              <a:rPr lang="en-US"/>
              <a:t>The Signal and the Slop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832" y="3446675"/>
            <a:ext cx="9144000" cy="560059"/>
          </a:xfrm>
        </p:spPr>
        <p:txBody>
          <a:bodyPr/>
          <a:lstStyle/>
          <a:p>
            <a:r>
              <a:rPr lang="en-US"/>
              <a:t>Defending Democratic Feedback Loops from AI Slop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F12E4D-9BE4-3F90-049E-C0A272D2A4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0834" y="4090988"/>
            <a:ext cx="4687887" cy="628650"/>
          </a:xfrm>
        </p:spPr>
        <p:txBody>
          <a:bodyPr/>
          <a:lstStyle/>
          <a:p>
            <a:r>
              <a:rPr lang="en-US"/>
              <a:t>February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205C-DB7F-C54E-72B9-A0FC6A40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Democratic Denial of 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DE5D5-50BD-EEB9-CFB1-1387FE68B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720" y="1371600"/>
            <a:ext cx="11338560" cy="4572000"/>
          </a:xfrm>
        </p:spPr>
        <p:txBody>
          <a:bodyPr/>
          <a:lstStyle/>
          <a:p>
            <a:r>
              <a:rPr lang="en-US"/>
              <a:t>Rulemaking relies on substantive human feedback</a:t>
            </a:r>
          </a:p>
          <a:p>
            <a:r>
              <a:rPr lang="en-US"/>
              <a:t>Generative AI lowers the cost of 'Astroturfing' to near zero</a:t>
            </a:r>
          </a:p>
          <a:p>
            <a:pPr lvl="1"/>
            <a:r>
              <a:rPr lang="en-US"/>
              <a:t>Astroturfing is a deceptive political or marketing tactic that masks the sponsors of a message to create the false impression of a spontaneous, grassroots, or public, "ground-up" movement. It is designed to manipulate public opinion by making an orchestrated campaign appear as widespread, organic support for a cause, politician, or product. </a:t>
            </a:r>
          </a:p>
          <a:p>
            <a:r>
              <a:rPr lang="en-US"/>
              <a:t>The Threat: 'Semantic Variance' Attacks.</a:t>
            </a:r>
          </a:p>
          <a:p>
            <a:pPr lvl="1"/>
            <a:r>
              <a:rPr lang="en-US"/>
              <a:t>AI generates thousands of unique comments for a single argument.</a:t>
            </a:r>
          </a:p>
          <a:p>
            <a:pPr lvl="1"/>
            <a:r>
              <a:rPr lang="en-US"/>
              <a:t>Bypasses traditional 'exact match' deduplication.</a:t>
            </a:r>
          </a:p>
          <a:p>
            <a:r>
              <a:rPr lang="en-US"/>
              <a:t>Result: Agencies are flooded, drowning out legitimate public signal.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0F3DEA6C-6764-3FA1-544F-9E5E9CE0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681" y="6400800"/>
            <a:ext cx="622739" cy="182880"/>
          </a:xfrm>
        </p:spPr>
        <p:txBody>
          <a:bodyPr/>
          <a:lstStyle/>
          <a:p>
            <a:pPr>
              <a:spcAft>
                <a:spcPts val="600"/>
              </a:spcAft>
            </a:pPr>
            <a:fld id="{BECF63ED-5365-0347-943C-46237B9951C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70C34F-67ED-B78C-AB4E-BCDB1662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760"/>
            <a:ext cx="11338560" cy="5486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Public Comment Astroturfing Examples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8991ED-0A41-0609-073C-E30475B8F1B4}"/>
              </a:ext>
            </a:extLst>
          </p:cNvPr>
          <p:cNvSpPr/>
          <p:nvPr/>
        </p:nvSpPr>
        <p:spPr>
          <a:xfrm>
            <a:off x="437968" y="2638104"/>
            <a:ext cx="3383437" cy="507515"/>
          </a:xfrm>
          <a:custGeom>
            <a:avLst/>
            <a:gdLst>
              <a:gd name="csX0" fmla="*/ 0 w 3383437"/>
              <a:gd name="csY0" fmla="*/ 0 h 507515"/>
              <a:gd name="csX1" fmla="*/ 3383437 w 3383437"/>
              <a:gd name="csY1" fmla="*/ 0 h 507515"/>
              <a:gd name="csX2" fmla="*/ 3383437 w 3383437"/>
              <a:gd name="csY2" fmla="*/ 507515 h 507515"/>
              <a:gd name="csX3" fmla="*/ 0 w 3383437"/>
              <a:gd name="csY3" fmla="*/ 507515 h 507515"/>
              <a:gd name="csX4" fmla="*/ 0 w 3383437"/>
              <a:gd name="csY4" fmla="*/ 0 h 507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507515">
                <a:moveTo>
                  <a:pt x="0" y="0"/>
                </a:moveTo>
                <a:lnTo>
                  <a:pt x="3383437" y="0"/>
                </a:lnTo>
                <a:lnTo>
                  <a:pt x="3383437" y="507515"/>
                </a:lnTo>
                <a:lnTo>
                  <a:pt x="0" y="5075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en-US" b="1" i="0" kern="1200" baseline="0"/>
              <a:t>FCC Net Neutrality Repeal (2017)</a:t>
            </a:r>
            <a:endParaRPr lang="en-US" kern="12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E4E93F-DFA9-466E-D2AC-4B57D43143EB}"/>
              </a:ext>
            </a:extLst>
          </p:cNvPr>
          <p:cNvSpPr/>
          <p:nvPr/>
        </p:nvSpPr>
        <p:spPr>
          <a:xfrm>
            <a:off x="431790" y="3399379"/>
            <a:ext cx="3383437" cy="2285041"/>
          </a:xfrm>
          <a:custGeom>
            <a:avLst/>
            <a:gdLst>
              <a:gd name="csX0" fmla="*/ 0 w 3383437"/>
              <a:gd name="csY0" fmla="*/ 0 h 2285041"/>
              <a:gd name="csX1" fmla="*/ 3383437 w 3383437"/>
              <a:gd name="csY1" fmla="*/ 0 h 2285041"/>
              <a:gd name="csX2" fmla="*/ 3383437 w 3383437"/>
              <a:gd name="csY2" fmla="*/ 2285041 h 2285041"/>
              <a:gd name="csX3" fmla="*/ 0 w 3383437"/>
              <a:gd name="csY3" fmla="*/ 2285041 h 2285041"/>
              <a:gd name="csX4" fmla="*/ 0 w 3383437"/>
              <a:gd name="csY4" fmla="*/ 0 h 2285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2285041">
                <a:moveTo>
                  <a:pt x="0" y="0"/>
                </a:moveTo>
                <a:lnTo>
                  <a:pt x="3383437" y="0"/>
                </a:lnTo>
                <a:lnTo>
                  <a:pt x="3383437" y="2285041"/>
                </a:lnTo>
                <a:lnTo>
                  <a:pt x="0" y="22850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22 million total comments; New York AG confirmed 18 million were fake</a:t>
            </a:r>
            <a:endParaRPr lang="en-US" sz="1600" kern="1200"/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Broadband companies hired lead generation companies who used stolen identities from data breaches</a:t>
            </a:r>
            <a:endParaRPr lang="en-US" sz="1600" kern="1200"/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2 million used real names of people who did not consent (including deceased individuals). 475,000 comments were submitted at exactly the same time (July 19, 2:57:15 PM)</a:t>
            </a:r>
            <a:endParaRPr lang="en-US" sz="1600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A427180-9512-41B2-A9B6-1F123E61725C}"/>
              </a:ext>
            </a:extLst>
          </p:cNvPr>
          <p:cNvSpPr/>
          <p:nvPr/>
        </p:nvSpPr>
        <p:spPr>
          <a:xfrm>
            <a:off x="4419686" y="2674058"/>
            <a:ext cx="3383437" cy="507515"/>
          </a:xfrm>
          <a:custGeom>
            <a:avLst/>
            <a:gdLst>
              <a:gd name="csX0" fmla="*/ 0 w 3383437"/>
              <a:gd name="csY0" fmla="*/ 0 h 507515"/>
              <a:gd name="csX1" fmla="*/ 3383437 w 3383437"/>
              <a:gd name="csY1" fmla="*/ 0 h 507515"/>
              <a:gd name="csX2" fmla="*/ 3383437 w 3383437"/>
              <a:gd name="csY2" fmla="*/ 507515 h 507515"/>
              <a:gd name="csX3" fmla="*/ 0 w 3383437"/>
              <a:gd name="csY3" fmla="*/ 507515 h 507515"/>
              <a:gd name="csX4" fmla="*/ 0 w 3383437"/>
              <a:gd name="csY4" fmla="*/ 0 h 507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507515">
                <a:moveTo>
                  <a:pt x="0" y="0"/>
                </a:moveTo>
                <a:lnTo>
                  <a:pt x="3383437" y="0"/>
                </a:lnTo>
                <a:lnTo>
                  <a:pt x="3383437" y="507515"/>
                </a:lnTo>
                <a:lnTo>
                  <a:pt x="0" y="5075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en-US" b="1" i="0" kern="1200" baseline="0"/>
              <a:t>CFPB Payday Lending Rule (2016) </a:t>
            </a:r>
            <a:endParaRPr lang="en-US" kern="12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67878B-8F92-6DB1-9675-2B1191DB7BBD}"/>
              </a:ext>
            </a:extLst>
          </p:cNvPr>
          <p:cNvSpPr/>
          <p:nvPr/>
        </p:nvSpPr>
        <p:spPr>
          <a:xfrm>
            <a:off x="4407329" y="3399379"/>
            <a:ext cx="3383437" cy="2285041"/>
          </a:xfrm>
          <a:custGeom>
            <a:avLst/>
            <a:gdLst>
              <a:gd name="csX0" fmla="*/ 0 w 3383437"/>
              <a:gd name="csY0" fmla="*/ 0 h 2285041"/>
              <a:gd name="csX1" fmla="*/ 3383437 w 3383437"/>
              <a:gd name="csY1" fmla="*/ 0 h 2285041"/>
              <a:gd name="csX2" fmla="*/ 3383437 w 3383437"/>
              <a:gd name="csY2" fmla="*/ 2285041 h 2285041"/>
              <a:gd name="csX3" fmla="*/ 0 w 3383437"/>
              <a:gd name="csY3" fmla="*/ 2285041 h 2285041"/>
              <a:gd name="csX4" fmla="*/ 0 w 3383437"/>
              <a:gd name="csY4" fmla="*/ 0 h 2285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2285041">
                <a:moveTo>
                  <a:pt x="0" y="0"/>
                </a:moveTo>
                <a:lnTo>
                  <a:pt x="3383437" y="0"/>
                </a:lnTo>
                <a:lnTo>
                  <a:pt x="3383437" y="2285041"/>
                </a:lnTo>
                <a:lnTo>
                  <a:pt x="0" y="22850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Proposed rule to curb predatory high-interest lending.</a:t>
            </a:r>
            <a:endParaRPr lang="en-US" sz="1600" kern="1200"/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Thousands of fake comments opposing the regulation were submitted using the names of payday loan victims, ironically, praising those same lenders.</a:t>
            </a:r>
            <a:endParaRPr lang="en-US" sz="1600" kern="1200"/>
          </a:p>
        </p:txBody>
      </p:sp>
      <p:sp>
        <p:nvSpPr>
          <p:cNvPr id="23" name="Rectangle 22" descr="Office Worker">
            <a:extLst>
              <a:ext uri="{FF2B5EF4-FFF2-40B4-BE49-F238E27FC236}">
                <a16:creationId xmlns:a16="http://schemas.microsoft.com/office/drawing/2014/main" id="{46545C94-4CF0-8D2C-C926-447AF798726A}"/>
              </a:ext>
            </a:extLst>
          </p:cNvPr>
          <p:cNvSpPr/>
          <p:nvPr/>
        </p:nvSpPr>
        <p:spPr>
          <a:xfrm>
            <a:off x="9220200" y="1370041"/>
            <a:ext cx="1260403" cy="1260403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082DDEB-67DF-2CB7-C313-4612253373BF}"/>
              </a:ext>
            </a:extLst>
          </p:cNvPr>
          <p:cNvSpPr/>
          <p:nvPr/>
        </p:nvSpPr>
        <p:spPr>
          <a:xfrm>
            <a:off x="8382868" y="2667943"/>
            <a:ext cx="3383437" cy="507515"/>
          </a:xfrm>
          <a:custGeom>
            <a:avLst/>
            <a:gdLst>
              <a:gd name="csX0" fmla="*/ 0 w 3383437"/>
              <a:gd name="csY0" fmla="*/ 0 h 507515"/>
              <a:gd name="csX1" fmla="*/ 3383437 w 3383437"/>
              <a:gd name="csY1" fmla="*/ 0 h 507515"/>
              <a:gd name="csX2" fmla="*/ 3383437 w 3383437"/>
              <a:gd name="csY2" fmla="*/ 507515 h 507515"/>
              <a:gd name="csX3" fmla="*/ 0 w 3383437"/>
              <a:gd name="csY3" fmla="*/ 507515 h 507515"/>
              <a:gd name="csX4" fmla="*/ 0 w 3383437"/>
              <a:gd name="csY4" fmla="*/ 0 h 507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507515">
                <a:moveTo>
                  <a:pt x="0" y="0"/>
                </a:moveTo>
                <a:lnTo>
                  <a:pt x="3383437" y="0"/>
                </a:lnTo>
                <a:lnTo>
                  <a:pt x="3383437" y="507515"/>
                </a:lnTo>
                <a:lnTo>
                  <a:pt x="0" y="5075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b="1"/>
            </a:pPr>
            <a:r>
              <a:rPr lang="en-US" b="1" i="0" kern="1200" baseline="0"/>
              <a:t>Dept. of Labor Fiduciary Rule (2017)</a:t>
            </a:r>
            <a:endParaRPr lang="en-US" kern="12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B3E30BD-2422-57CF-7BA5-4EAFE7B315FF}"/>
              </a:ext>
            </a:extLst>
          </p:cNvPr>
          <p:cNvSpPr/>
          <p:nvPr/>
        </p:nvSpPr>
        <p:spPr>
          <a:xfrm>
            <a:off x="8382868" y="3399379"/>
            <a:ext cx="3383437" cy="2285041"/>
          </a:xfrm>
          <a:custGeom>
            <a:avLst/>
            <a:gdLst>
              <a:gd name="csX0" fmla="*/ 0 w 3383437"/>
              <a:gd name="csY0" fmla="*/ 0 h 2285041"/>
              <a:gd name="csX1" fmla="*/ 3383437 w 3383437"/>
              <a:gd name="csY1" fmla="*/ 0 h 2285041"/>
              <a:gd name="csX2" fmla="*/ 3383437 w 3383437"/>
              <a:gd name="csY2" fmla="*/ 2285041 h 2285041"/>
              <a:gd name="csX3" fmla="*/ 0 w 3383437"/>
              <a:gd name="csY3" fmla="*/ 2285041 h 2285041"/>
              <a:gd name="csX4" fmla="*/ 0 w 3383437"/>
              <a:gd name="csY4" fmla="*/ 0 h 2285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83437" h="2285041">
                <a:moveTo>
                  <a:pt x="0" y="0"/>
                </a:moveTo>
                <a:lnTo>
                  <a:pt x="3383437" y="0"/>
                </a:lnTo>
                <a:lnTo>
                  <a:pt x="3383437" y="2285041"/>
                </a:lnTo>
                <a:lnTo>
                  <a:pt x="0" y="228504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Rule requiring financial advisors to act in clients' best interests.</a:t>
            </a:r>
            <a:endParaRPr lang="en-US" sz="1600" kern="1200"/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A Wall Street Journal survey of 345 "commenters" found 40% denied writing the comment attributed to them.</a:t>
            </a:r>
            <a:endParaRPr lang="en-US" sz="1600" kern="1200"/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0" i="0" kern="1200" baseline="0"/>
              <a:t>The fake comments were used to justify a delay in the rule's implementation.</a:t>
            </a:r>
            <a:endParaRPr lang="en-US" sz="1600" kern="1200"/>
          </a:p>
        </p:txBody>
      </p:sp>
      <p:pic>
        <p:nvPicPr>
          <p:cNvPr id="27" name="Graphic 26" descr="Flying Money with solid fill">
            <a:extLst>
              <a:ext uri="{FF2B5EF4-FFF2-40B4-BE49-F238E27FC236}">
                <a16:creationId xmlns:a16="http://schemas.microsoft.com/office/drawing/2014/main" id="{A84C35CC-0D3F-BCA3-FEE3-B83526D2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5202" y="1495604"/>
            <a:ext cx="1015620" cy="1015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F5E9674-9B82-F1D9-0D72-394F777C6D2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1250092" y="1368224"/>
            <a:ext cx="1143000" cy="1143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9A2F3F-4A6D-CB27-2DCE-F46A01DF28CF}"/>
              </a:ext>
            </a:extLst>
          </p:cNvPr>
          <p:cNvSpPr txBox="1"/>
          <p:nvPr/>
        </p:nvSpPr>
        <p:spPr>
          <a:xfrm>
            <a:off x="381000" y="5938180"/>
            <a:ext cx="2438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</a:schemeClr>
                </a:solidFill>
              </a:rPr>
              <a:t>https://www.flaticon.com/authors/heisenberg-jr</a:t>
            </a:r>
          </a:p>
        </p:txBody>
      </p:sp>
    </p:spTree>
    <p:extLst>
      <p:ext uri="{BB962C8B-B14F-4D97-AF65-F5344CB8AC3E}">
        <p14:creationId xmlns:p14="http://schemas.microsoft.com/office/powerpoint/2010/main" val="386415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83791-A486-26D8-FDFC-3E0BD918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5681" y="6400800"/>
            <a:ext cx="622739" cy="182880"/>
          </a:xfrm>
        </p:spPr>
        <p:txBody>
          <a:bodyPr/>
          <a:lstStyle/>
          <a:p>
            <a:fld id="{BECF63ED-5365-0347-943C-46237B9951C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2E3AC8-69C3-8075-CA4E-B4BDFA28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Current Defenses: Fighting the Last War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6AA0-1C65-134B-2C8A-9C5C5016B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572" y="1219200"/>
            <a:ext cx="11337925" cy="4572000"/>
          </a:xfrm>
        </p:spPr>
        <p:txBody>
          <a:bodyPr/>
          <a:lstStyle/>
          <a:p>
            <a:r>
              <a:rPr lang="en-US"/>
              <a:t>Deduplication</a:t>
            </a:r>
          </a:p>
          <a:p>
            <a:pPr lvl="1"/>
            <a:r>
              <a:rPr lang="en-US"/>
              <a:t>Flag and Aggregate policy (ACUS Rec 2021-1) allows duplicates to be aggregated</a:t>
            </a:r>
          </a:p>
          <a:p>
            <a:pPr lvl="1"/>
            <a:r>
              <a:rPr lang="en-US"/>
              <a:t>Current techniques (hashing, Levenshtein distance) only catch simple copy-paste campaigns</a:t>
            </a:r>
          </a:p>
          <a:p>
            <a:pPr lvl="1"/>
            <a:r>
              <a:rPr lang="en-US"/>
              <a:t>Fails against high-temperature AI rewriting</a:t>
            </a:r>
          </a:p>
          <a:p>
            <a:r>
              <a:rPr lang="en-US"/>
              <a:t>Identity Proofing</a:t>
            </a:r>
          </a:p>
          <a:p>
            <a:pPr lvl="1"/>
            <a:r>
              <a:rPr lang="en-US"/>
              <a:t>Moving toward verified portals (e.g., Login.gov) and CAPTCHA</a:t>
            </a:r>
          </a:p>
          <a:p>
            <a:pPr lvl="1"/>
            <a:r>
              <a:rPr lang="en-US"/>
              <a:t>Reduces accessibility for real users</a:t>
            </a:r>
          </a:p>
          <a:p>
            <a:pPr lvl="1"/>
            <a:r>
              <a:rPr lang="en-US"/>
              <a:t>Can be bypassed by advanced bots or click-farms</a:t>
            </a:r>
          </a:p>
          <a:p>
            <a:r>
              <a:rPr lang="en-US"/>
              <a:t>18F &amp; GSA Pilot Programs (NLP Categorization)</a:t>
            </a:r>
          </a:p>
          <a:p>
            <a:pPr lvl="1"/>
            <a:r>
              <a:rPr lang="en-US"/>
              <a:t>GSA is piloting NLP tools to help agencies "topic model" comments</a:t>
            </a:r>
          </a:p>
          <a:p>
            <a:pPr lvl="1"/>
            <a:r>
              <a:rPr lang="en-US"/>
              <a:t>Currently focus on sorting comments for analysts, not detecting fake comments</a:t>
            </a:r>
          </a:p>
          <a:p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2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69F5F4-340B-FF87-DD6A-2173BC2D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AI Attack Vectors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7E7374-8BBA-4D2D-94A9-ACA6C10D2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636" y="1143000"/>
            <a:ext cx="11338560" cy="4572000"/>
          </a:xfrm>
        </p:spPr>
        <p:txBody>
          <a:bodyPr/>
          <a:lstStyle/>
          <a:p>
            <a:pPr marL="466725" indent="-457200">
              <a:buFont typeface="+mj-lt"/>
              <a:buAutoNum type="arabicPeriod"/>
            </a:pPr>
            <a:r>
              <a:rPr lang="en-US" sz="2000" b="1"/>
              <a:t>Synthetic Astroturfing: </a:t>
            </a:r>
            <a:r>
              <a:rPr lang="en-US" sz="2000"/>
              <a:t>An unscrupulous actor uses an LLM (Large Language Model) to rewrite a single core argument 5,000 times with high "temperature" (randomness) settings.</a:t>
            </a:r>
          </a:p>
          <a:p>
            <a:pPr marL="466725" indent="-457200">
              <a:buFont typeface="+mj-lt"/>
              <a:buAutoNum type="arabicPeriod"/>
            </a:pPr>
            <a:r>
              <a:rPr lang="en-US" sz="2000" b="1"/>
              <a:t>Persona Mimicry (False Representation): </a:t>
            </a:r>
            <a:r>
              <a:rPr lang="en-US" sz="2000"/>
              <a:t>The attacker </a:t>
            </a:r>
            <a:r>
              <a:rPr lang="en-US" sz="2000" dirty="0"/>
              <a:t>prompts the AI to adopt specific </a:t>
            </a:r>
            <a:r>
              <a:rPr lang="en-US" sz="2000"/>
              <a:t>personas to create a false impression of stakeholder consensus.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/>
              <a:t>"</a:t>
            </a:r>
            <a:r>
              <a:rPr lang="en-US" sz="1800" dirty="0"/>
              <a:t>Write a negative comment about [Rule X] from the perspective of a single mother in Ohio who is worried about rising costs."</a:t>
            </a:r>
          </a:p>
          <a:p>
            <a:pPr marL="466725" indent="-457200">
              <a:buFont typeface="+mj-lt"/>
              <a:buAutoNum type="arabicPeriod"/>
            </a:pPr>
            <a:r>
              <a:rPr lang="en-US" sz="2000" b="1"/>
              <a:t>Citation Flooding (Brandolini Attack)</a:t>
            </a:r>
            <a:r>
              <a:rPr lang="en-US" sz="2000"/>
              <a:t>: Attacker generates comments that are dense with technical jargon, legal citations, or scientific data; Brandolini’s law is that the </a:t>
            </a:r>
            <a:r>
              <a:rPr lang="en-US" sz="2000" dirty="0"/>
              <a:t>amount of energy needed to refute bullshit is an order of magnitude larger than is needed to produce </a:t>
            </a:r>
            <a:r>
              <a:rPr lang="en-US" sz="2000"/>
              <a:t>it. </a:t>
            </a:r>
          </a:p>
          <a:p>
            <a:pPr marL="466725" indent="-457200">
              <a:buFont typeface="+mj-lt"/>
              <a:buAutoNum type="arabicPeriod"/>
            </a:pPr>
            <a:r>
              <a:rPr lang="en-US" sz="2000" b="1"/>
              <a:t>Malattribution: </a:t>
            </a:r>
            <a:r>
              <a:rPr lang="en-US" sz="2000"/>
              <a:t>Attacker attributes comments to real identities, misrepresenting their position</a:t>
            </a:r>
            <a:endParaRPr lang="en-US" sz="2000" b="1" dirty="0"/>
          </a:p>
          <a:p>
            <a:pPr marL="466725" indent="-457200">
              <a:buFont typeface="+mj-lt"/>
              <a:buAutoNum type="arabicPeriod"/>
            </a:pPr>
            <a:r>
              <a:rPr lang="en-US" sz="2000" b="1"/>
              <a:t>Dilution: </a:t>
            </a:r>
            <a:r>
              <a:rPr lang="en-US" sz="2000"/>
              <a:t>The attacker floods the </a:t>
            </a:r>
            <a:r>
              <a:rPr lang="en-US" sz="2000" dirty="0"/>
              <a:t>docket with low-quality AI noise that supports the </a:t>
            </a:r>
            <a:r>
              <a:rPr lang="en-US" sz="2000" i="1" dirty="0"/>
              <a:t>same</a:t>
            </a:r>
            <a:r>
              <a:rPr lang="en-US" sz="2000" dirty="0"/>
              <a:t> side as </a:t>
            </a:r>
            <a:r>
              <a:rPr lang="en-US" sz="2000"/>
              <a:t>the experts, degrading the signal-to-noise ratio.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309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5258BC-B801-6CAB-AAD5-7E076D3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Goal &amp; Hypothesis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AF6E5-06AB-9E14-C0ED-B7BDD65B8F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201400" cy="3886200"/>
          </a:xfrm>
        </p:spPr>
        <p:txBody>
          <a:bodyPr wrap="square">
            <a:noAutofit/>
          </a:bodyPr>
          <a:lstStyle/>
          <a:p>
            <a:pPr>
              <a:defRPr sz="1800"/>
            </a:pPr>
            <a:r>
              <a:rPr lang="en-US" sz="2700" b="1"/>
              <a:t>Goal: </a:t>
            </a:r>
            <a:r>
              <a:rPr lang="en-US" sz="2700"/>
              <a:t>Preserve the signal-to-noise ratio in democratic feedback mechanisms</a:t>
            </a:r>
          </a:p>
          <a:p>
            <a:pPr>
              <a:defRPr sz="1800"/>
            </a:pPr>
            <a:r>
              <a:rPr lang="en-US" sz="2700" b="1"/>
              <a:t>Hypothesis: </a:t>
            </a:r>
            <a:r>
              <a:rPr lang="en-US" sz="2700"/>
              <a:t>AI-generated content, even when prompted for high temperature (randomness), exhibits lower </a:t>
            </a:r>
            <a:r>
              <a:rPr lang="en-US" sz="2700" b="1"/>
              <a:t>Semantic Substance Density</a:t>
            </a:r>
            <a:r>
              <a:rPr lang="en-US" sz="2700"/>
              <a:t> and higher </a:t>
            </a:r>
            <a:r>
              <a:rPr lang="en-US" sz="2700" b="1"/>
              <a:t>Argumentative Isomorphism</a:t>
            </a:r>
            <a:r>
              <a:rPr lang="en-US" sz="2700"/>
              <a:t> than organic human content.</a:t>
            </a:r>
          </a:p>
          <a:p>
            <a:pPr>
              <a:defRPr sz="1800"/>
            </a:pPr>
            <a:r>
              <a:rPr lang="en-US" sz="2700" b="1"/>
              <a:t>Approach: </a:t>
            </a:r>
            <a:r>
              <a:rPr lang="en-US" sz="2700"/>
              <a:t>Controlled Injection Experiment</a:t>
            </a:r>
          </a:p>
        </p:txBody>
      </p:sp>
    </p:spTree>
    <p:extLst>
      <p:ext uri="{BB962C8B-B14F-4D97-AF65-F5344CB8AC3E}">
        <p14:creationId xmlns:p14="http://schemas.microsoft.com/office/powerpoint/2010/main" val="17603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3AF0A8-B614-4E5F-3D83-CB06C6F9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Synthetic Generation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9C7988-5C30-5043-182C-D3A66C19C29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33400" y="1431606"/>
            <a:ext cx="10252028" cy="405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/>
              <a:t>Scrape 5000 comments from a pre-2022 rule (before ChatGPT was widespread) from Regulations.gov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>
                <a:latin typeface="Arial" panose="020B0604020202020204" pitchFamily="34" charset="0"/>
              </a:rPr>
              <a:t>Generate 3000 synthetic comments:</a:t>
            </a:r>
            <a:endParaRPr kumimoji="0" lang="en-US" altLang="en-US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Vector 1: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Take one core argument and rewrite it 1,000 times.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Vector 2: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Prompt the LLM to adopt 50 distinct personas (e.g., "Concerned Nurse," "Small Business Owner").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Vector 3: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Generate comments densely packed with technical (hallucinated) references.</a:t>
            </a:r>
          </a:p>
        </p:txBody>
      </p:sp>
    </p:spTree>
    <p:extLst>
      <p:ext uri="{BB962C8B-B14F-4D97-AF65-F5344CB8AC3E}">
        <p14:creationId xmlns:p14="http://schemas.microsoft.com/office/powerpoint/2010/main" val="234628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6206E-340E-2AC1-2E83-B27689B0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4017C1-703A-B37F-7A2D-F02A0351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Defense Algorithms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683473-2684-4077-B2EA-E8298D23E6EF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26256" y="1143000"/>
            <a:ext cx="1025202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 1: High-Dimensional Semantic Clustering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Convert all comments to vector embeddings. Reduce dimensions and cluster.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Hypothesis:</a:t>
            </a: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Comments will form tight, dense hyperspheres in vector space, whereas real comments will be diffuse and effectively "noisy.“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 2: The "Semantic Substance" Ratio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a “substance” metric= (Unique Propositional Claims)/(Total Tokens)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Extract (Subject, Relation, Object) triples. Count unique triples per 100 words.</a:t>
            </a:r>
          </a:p>
          <a:p>
            <a:pPr marL="342900" marR="0" lvl="0" indent="-342900"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Hypothesis:</a:t>
            </a:r>
            <a:r>
              <a:rPr lang="en-US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Substance(fake) &lt; Substance(real)</a:t>
            </a:r>
          </a:p>
          <a:p>
            <a:pPr marL="0" indent="0" eaLnBrk="0" fontAlgn="base" hangingPunct="0">
              <a:spcBef>
                <a:spcPts val="0"/>
              </a:spcBef>
              <a:spcAft>
                <a:spcPts val="12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61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6FD4-9306-86CF-55EA-28AAB3E9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7F35A4-BB38-C7EE-955A-6991B7EB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 Strategy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CA053CD-58BA-D4F0-5F95-E36270B9B00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33400" y="1431606"/>
            <a:ext cx="5181600" cy="405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Build Python pipelines to extract and load comments from Regulations.gov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Create synthetic comment generators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Build defense algorith</a:t>
            </a:r>
            <a:r>
              <a:rPr lang="en-US" altLang="en-US" sz="2000">
                <a:latin typeface="Arial" panose="020B0604020202020204" pitchFamily="34" charset="0"/>
              </a:rPr>
              <a:t>ms and discriminators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Build visualizations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458B2-A75F-8A71-21B6-959616AEA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7" y="2209800"/>
            <a:ext cx="5181600" cy="3749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228600" indent="-21907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lang="en-US" sz="2400" b="0" i="0" kern="1200" cap="none" baseline="0">
                <a:solidFill>
                  <a:schemeClr val="tx2"/>
                </a:solidFill>
                <a:latin typeface="+mn-lt"/>
                <a:ea typeface="+mn-ea"/>
                <a:cs typeface="Arial Narrow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lang="en-US" sz="2000" b="0" i="0" kern="1200" baseline="0">
                <a:solidFill>
                  <a:schemeClr val="tx2"/>
                </a:solidFill>
                <a:latin typeface="+mn-lt"/>
                <a:ea typeface="+mn-ea"/>
                <a:cs typeface="Arial Narrow" charset="0"/>
              </a:defRPr>
            </a:lvl2pPr>
            <a:lvl3pPr marL="6905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lang="en-US" sz="1800" b="0" i="0" kern="1200" baseline="0">
                <a:solidFill>
                  <a:schemeClr val="tx2"/>
                </a:solidFill>
                <a:latin typeface="+mn-lt"/>
                <a:ea typeface="+mn-ea"/>
                <a:cs typeface="Arial Narrow" charset="0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tabLst/>
              <a:defRPr lang="en-US" sz="1600" b="0" i="0" kern="1200" baseline="0">
                <a:solidFill>
                  <a:schemeClr val="tx2"/>
                </a:solidFill>
                <a:latin typeface="+mn-lt"/>
                <a:ea typeface="+mn-ea"/>
                <a:cs typeface="Arial Narrow" charset="0"/>
              </a:defRPr>
            </a:lvl4pPr>
            <a:lvl5pPr marL="1138238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§"/>
              <a:defRPr lang="en-US" sz="1400" b="0" i="0" kern="1200" baseline="0">
                <a:solidFill>
                  <a:schemeClr val="tx2"/>
                </a:solidFill>
                <a:latin typeface="+mn-lt"/>
                <a:ea typeface="+mn-ea"/>
                <a:cs typeface="Arial Narrow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Present mixed comments to human reviewers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Have them try to discriminate real comments from synthetic “slop”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000">
                <a:latin typeface="Arial" panose="020B0604020202020204" pitchFamily="34" charset="0"/>
              </a:rPr>
              <a:t>Compare to algorithmic approaches (accuracy, effort)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27D917-95F5-9A8C-691F-7A5A943FE5CB}"/>
              </a:ext>
            </a:extLst>
          </p:cNvPr>
          <p:cNvCxnSpPr/>
          <p:nvPr/>
        </p:nvCxnSpPr>
        <p:spPr>
          <a:xfrm>
            <a:off x="5410200" y="2438400"/>
            <a:ext cx="66198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48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35D9-4154-7B55-C31F-0E2361AF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Notable Previous Work </a:t>
            </a:r>
            <a:r>
              <a:rPr lang="en-US" sz="2400"/>
              <a:t>(see landscape report for more info)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A3F9B-2474-8B02-3CA6-54F553E53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720" y="990600"/>
            <a:ext cx="11338560" cy="4572000"/>
          </a:xfrm>
        </p:spPr>
        <p:txBody>
          <a:bodyPr/>
          <a:lstStyle/>
          <a:p>
            <a:r>
              <a:rPr lang="en-US" sz="1200"/>
              <a:t> Kao (2017). "More than a Million Pro-Repeal Net Neutrality Comments were Likely Faked."Used n-gram clustering to identify 1.3M mail-merge submissions.</a:t>
            </a:r>
          </a:p>
          <a:p>
            <a:r>
              <a:rPr lang="en-US" sz="1200"/>
              <a:t>Farina, C. R., et al. (2018). "Democratic De-duplication: The Semantic Clustering of Public Comments.“  Grouped near-duplicate comments using Levenshtein distance (edit distance).</a:t>
            </a:r>
          </a:p>
          <a:p>
            <a:r>
              <a:rPr lang="en-US" sz="1200"/>
              <a:t>Ferrara, E., et al. (2016). "The Rise of Social Bots.“  Established the taxonomy of social bot detection using network features (follower/friend ratios).</a:t>
            </a:r>
          </a:p>
          <a:p>
            <a:r>
              <a:rPr lang="en-US" sz="1200"/>
              <a:t>Goldstein, J. A., et al. (2023). "Generative Language Models and Automated Influence Operations.“ Modeled the cost reduction of influence operations using LLMs, predicting the shift to semantic variance.</a:t>
            </a:r>
          </a:p>
          <a:p>
            <a:r>
              <a:rPr lang="en-US" sz="1200"/>
              <a:t>Mitchell, E., et al. (2023). "DetectGPT: Zero-Shot Machine-Generated Text Detection.“ Proposed using the negative curvature of token probability to detect AI text.</a:t>
            </a:r>
          </a:p>
          <a:p>
            <a:r>
              <a:rPr lang="en-US" sz="1200"/>
              <a:t>Liu, R., et al. (2025). "Training-free LLM-generated Text Detection.“ Advanced detection by mining local vs. global token probability sequences.</a:t>
            </a:r>
          </a:p>
          <a:p>
            <a:pPr lvl="0" fontAlgn="base"/>
            <a:r>
              <a:rPr lang="en-US" altLang="en-US" sz="1200"/>
              <a:t>Zellers, R., et al. (2019). “Defending Against Neural Fake News.” Demonstrated that the best detector for neural text is the generator itself (the "Grover" principle), initiating the arms race between generation and detection.</a:t>
            </a:r>
          </a:p>
          <a:p>
            <a:pPr lvl="0" fontAlgn="base"/>
            <a:r>
              <a:rPr lang="en-US" altLang="en-US" sz="1200"/>
              <a:t>Coglianese, C. (2021). “Administrative Law in the Automated State.” Established the legal framework for how agencies can permissibly use AI, arguing that "algorithmic governance" must still satisfy the reasoned decision-making standard of the Administrative Procedure Act.</a:t>
            </a:r>
          </a:p>
          <a:p>
            <a:pPr lvl="0" fontAlgn="base"/>
            <a:r>
              <a:rPr lang="en-US" altLang="en-US" sz="1200"/>
              <a:t>Bender, E. M., et al. (2021). “On the Dangers of Stochastic Parrots: Can Language Models Be Too Big?”  Provided the theoretical basis for the "Slop" concept, defining LLMs as systems that mimic linguistic form without understanding communicative intent or meaning.</a:t>
            </a:r>
          </a:p>
          <a:p>
            <a:pPr lvl="0" fontAlgn="base"/>
            <a:r>
              <a:rPr lang="en-US" altLang="en-US" sz="1200"/>
              <a:t>Argyle, L. P., et al. (2023). “Out of One, Many: Using Language Models to Simulate Human Samples.” Empirically proved the "Persona Mimicry" vector by showing that GPT-3 could accurately simulate the polling responses of specific demographic groups (e.g., "Republican women") when conditioned with backstories.</a:t>
            </a:r>
          </a:p>
          <a:p>
            <a:pPr lvl="0" fontAlgn="base"/>
            <a:r>
              <a:rPr lang="en-US" altLang="en-US" sz="1200"/>
              <a:t>Sadasivan, V. S., et al. (2023). “Can AI-Generated Text be Reliably Detected?” Provided a theoretical impossibility result, proving that as LLMs approximate human probability distributions, detection accuracy mathematically approaches random chance (50%), regardless of the detector used.</a:t>
            </a:r>
          </a:p>
          <a:p>
            <a:pPr lvl="0" fontAlgn="base"/>
            <a:r>
              <a:rPr lang="en-US" altLang="en-US" sz="1200"/>
              <a:t>Kirchenbauer, J., et al. (2023). “A Watermark for Large Language Models.”  roposed "soft watermarking" (altering token sampling distributions) as a defense, though noting it requires the cooperation of model providers and fails against open-weights models.</a:t>
            </a:r>
          </a:p>
          <a:p>
            <a:pPr lvl="0" fontAlgn="base"/>
            <a:endParaRPr lang="en-US" altLang="en-US" sz="1200"/>
          </a:p>
          <a:p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91558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Print MITRE">
  <a:themeElements>
    <a:clrScheme name="Custom 4">
      <a:dk1>
        <a:srgbClr val="0D2441"/>
      </a:dk1>
      <a:lt1>
        <a:srgbClr val="FFFFFF"/>
      </a:lt1>
      <a:dk2>
        <a:srgbClr val="0D2441"/>
      </a:dk2>
      <a:lt2>
        <a:srgbClr val="E6E6E6"/>
      </a:lt2>
      <a:accent1>
        <a:srgbClr val="00B0F0"/>
      </a:accent1>
      <a:accent2>
        <a:srgbClr val="8FD8F8"/>
      </a:accent2>
      <a:accent3>
        <a:srgbClr val="0070C0"/>
      </a:accent3>
      <a:accent4>
        <a:srgbClr val="23CA41"/>
      </a:accent4>
      <a:accent5>
        <a:srgbClr val="D3442E"/>
      </a:accent5>
      <a:accent6>
        <a:srgbClr val="FEFB00"/>
      </a:accent6>
      <a:hlink>
        <a:srgbClr val="0068DA"/>
      </a:hlink>
      <a:folHlink>
        <a:srgbClr val="FF2D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TRE-PPT-template-16x9-2025_new-final.potx" id="{781DAD49-BB59-4E4F-9E12-1726D3C9A02B}" vid="{E6507FBF-AAAE-4443-B07B-CDDC261D61F1}"/>
    </a:ext>
  </a:extLst>
</a:theme>
</file>

<file path=ppt/theme/theme2.xml><?xml version="1.0" encoding="utf-8"?>
<a:theme xmlns:a="http://schemas.openxmlformats.org/drawingml/2006/main" name="Blue MITRE">
  <a:themeElements>
    <a:clrScheme name="DB_theme">
      <a:dk1>
        <a:srgbClr val="E6E6E6"/>
      </a:dk1>
      <a:lt1>
        <a:srgbClr val="0D2541"/>
      </a:lt1>
      <a:dk2>
        <a:srgbClr val="FFFFFF"/>
      </a:dk2>
      <a:lt2>
        <a:srgbClr val="000000"/>
      </a:lt2>
      <a:accent1>
        <a:srgbClr val="8FD8F8"/>
      </a:accent1>
      <a:accent2>
        <a:srgbClr val="FEFB00"/>
      </a:accent2>
      <a:accent3>
        <a:srgbClr val="488DC9"/>
      </a:accent3>
      <a:accent4>
        <a:srgbClr val="4FB96E"/>
      </a:accent4>
      <a:accent5>
        <a:srgbClr val="FF6D2B"/>
      </a:accent5>
      <a:accent6>
        <a:srgbClr val="8E7FB9"/>
      </a:accent6>
      <a:hlink>
        <a:srgbClr val="0068DA"/>
      </a:hlink>
      <a:folHlink>
        <a:srgbClr val="FF2D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ITRE-PPT-template-16x9-2025_new-final.potx" id="{781DAD49-BB59-4E4F-9E12-1726D3C9A02B}" vid="{81D5FE34-D787-4E75-B0E0-4BC1E95A1D1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7A3E353E5DE146A5CF47AF8B5B5414" ma:contentTypeVersion="6" ma:contentTypeDescription="Create a new document." ma:contentTypeScope="" ma:versionID="57e50b63632a884784b794a44c8871c5">
  <xsd:schema xmlns:xsd="http://www.w3.org/2001/XMLSchema" xmlns:xs="http://www.w3.org/2001/XMLSchema" xmlns:p="http://schemas.microsoft.com/office/2006/metadata/properties" xmlns:ns2="ea739d1f-7293-41fe-a715-123e28b8d00c" targetNamespace="http://schemas.microsoft.com/office/2006/metadata/properties" ma:root="true" ma:fieldsID="dc70aa0b86f861c3a0ddb608d8fbffc4" ns2:_="">
    <xsd:import namespace="ea739d1f-7293-41fe-a715-123e28b8d0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39d1f-7293-41fe-a715-123e28b8d0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02ADF-1AE4-4537-803D-A89B5A8835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39d1f-7293-41fe-a715-123e28b8d0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A7D7CE-B3C2-40BC-95BC-B867E09A8123}">
  <ds:schemaRefs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0f653c87-7ef8-4f8b-a33e-2f20fa180d34"/>
    <ds:schemaRef ds:uri="http://schemas.microsoft.com/office/2006/metadata/properties"/>
    <ds:schemaRef ds:uri="http://purl.org/dc/terms/"/>
    <ds:schemaRef ds:uri="http://www.w3.org/XML/1998/namespace"/>
    <ds:schemaRef ds:uri="40714a2c-6bcf-4636-be5c-122bcf9fff2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C99D9E4-E56B-4A07-8E6F-A17FC1CB42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MITRE-PPT-template-16x9-2025</Template>
  <TotalTime>1348</TotalTime>
  <Words>1371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Symbol</vt:lpstr>
      <vt:lpstr>Wingdings</vt:lpstr>
      <vt:lpstr>White Print MITRE</vt:lpstr>
      <vt:lpstr>Blue MITRE</vt:lpstr>
      <vt:lpstr>Democratic Denial of Service: The Signal and the Slop</vt:lpstr>
      <vt:lpstr>Democratic Denial of Service</vt:lpstr>
      <vt:lpstr>Public Comment Astroturfing Examples</vt:lpstr>
      <vt:lpstr>Current Defenses: Fighting the Last War</vt:lpstr>
      <vt:lpstr>Generative AI Attack Vectors</vt:lpstr>
      <vt:lpstr>Research Goal &amp; Hypothesis</vt:lpstr>
      <vt:lpstr>Synthetic Generation</vt:lpstr>
      <vt:lpstr>Defense Algorithms</vt:lpstr>
      <vt:lpstr>Execution Strategy</vt:lpstr>
      <vt:lpstr>Notable Previous Work (see landscape report for more info)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Dr. Mark A Kramer</dc:creator>
  <cp:keywords/>
  <dc:description/>
  <cp:lastModifiedBy>Dr. Mark A Kramer</cp:lastModifiedBy>
  <cp:revision>10</cp:revision>
  <cp:lastPrinted>2020-12-17T13:42:49Z</cp:lastPrinted>
  <dcterms:created xsi:type="dcterms:W3CDTF">2025-11-12T19:07:06Z</dcterms:created>
  <dcterms:modified xsi:type="dcterms:W3CDTF">2026-01-27T14:01:48Z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0x010100F37A3E353E5DE146A5CF47AF8B5B5414</vt:lpwstr>
  </property>
  <property fmtid="{D5CDD505-2E9C-101B-9397-08002B2CF9AE}" pid="3" name="Order">
    <vt:r8>2600</vt:r8>
  </property>
  <property fmtid="{D5CDD505-2E9C-101B-9397-08002B2CF9AE}" pid="4" name="_ExtendedDescription">
    <vt:lpwstr/>
  </property>
</Properties>
</file>